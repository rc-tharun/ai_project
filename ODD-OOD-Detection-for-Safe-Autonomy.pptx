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8229600" cx="14630400"/>
  <p:notesSz cx="8229600" cy="14630400"/>
  <p:embeddedFontLst>
    <p:embeddedFont>
      <p:font typeface="Heebo"/>
      <p:regular r:id="rId12"/>
      <p:bold r:id="rId13"/>
    </p:embeddedFont>
    <p:embeddedFont>
      <p:font typeface="Crimson Pro SemiBold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Heebo-bold.fntdata"/><Relationship Id="rId12" Type="http://schemas.openxmlformats.org/officeDocument/2006/relationships/font" Target="fonts/Heeb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CrimsonProSemiBold-bold.fntdata"/><Relationship Id="rId14" Type="http://schemas.openxmlformats.org/officeDocument/2006/relationships/font" Target="fonts/CrimsonProSemiBold-regular.fntdata"/><Relationship Id="rId17" Type="http://schemas.openxmlformats.org/officeDocument/2006/relationships/font" Target="fonts/CrimsonProSemiBold-boldItalic.fntdata"/><Relationship Id="rId16" Type="http://schemas.openxmlformats.org/officeDocument/2006/relationships/font" Target="fonts/CrimsonProSemiBold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cd2152c343_1_23:notes"/>
          <p:cNvSpPr/>
          <p:nvPr>
            <p:ph idx="2" type="sldImg"/>
          </p:nvPr>
        </p:nvSpPr>
        <p:spPr>
          <a:xfrm>
            <a:off x="822960" y="1371600"/>
            <a:ext cx="6583800" cy="370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3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g3cd2152c343_1_23:notes"/>
          <p:cNvSpPr txBox="1"/>
          <p:nvPr>
            <p:ph idx="1" type="body"/>
          </p:nvPr>
        </p:nvSpPr>
        <p:spPr>
          <a:xfrm>
            <a:off x="822960" y="5280660"/>
            <a:ext cx="65838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(No external sources on this slide)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42" name="Google Shape;42;g3cd2152c343_1_23:notes"/>
          <p:cNvSpPr txBox="1"/>
          <p:nvPr>
            <p:ph idx="12" type="sldNum"/>
          </p:nvPr>
        </p:nvSpPr>
        <p:spPr>
          <a:xfrm>
            <a:off x="4661536" y="10422256"/>
            <a:ext cx="35664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73125" lIns="146275" spcFirstLastPara="1" rIns="146275" wrap="square" tIns="73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200"/>
              <a:t>‹#›</a:t>
            </a:fld>
            <a:endParaRPr sz="2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cd2152c343_1_0:notes"/>
          <p:cNvSpPr/>
          <p:nvPr>
            <p:ph idx="2" type="sldImg"/>
          </p:nvPr>
        </p:nvSpPr>
        <p:spPr>
          <a:xfrm>
            <a:off x="822960" y="1371600"/>
            <a:ext cx="6583800" cy="370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3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3cd2152c343_1_0:notes"/>
          <p:cNvSpPr txBox="1"/>
          <p:nvPr>
            <p:ph idx="1" type="body"/>
          </p:nvPr>
        </p:nvSpPr>
        <p:spPr>
          <a:xfrm>
            <a:off x="822960" y="5280660"/>
            <a:ext cx="65838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Day image (Unsplash): https://unsplash.com/photos/person-driving-car-during-daytime-GCTjpf8ExHk</a:t>
            </a:r>
            <a:br>
              <a:rPr lang="en-US"/>
            </a:br>
            <a:r>
              <a:rPr lang="en-US"/>
              <a:t>- Night image (Unsplash): https://unsplash.com/photos/cars-parked-on-both-sides-of-the-street-during-snowy-nighttime-snLCRc7ByI4</a:t>
            </a:r>
            <a:br>
              <a:rPr lang="en-US"/>
            </a:br>
            <a:r>
              <a:rPr lang="en-US"/>
              <a:t>- Rain image (Unsplash): https://unsplash.com/photos/rain-drops-on-the-windshield-of-a-car-at-night-grOCtxtBrDg</a:t>
            </a:r>
            <a:br>
              <a:rPr lang="en-US"/>
            </a:br>
            <a:r>
              <a:rPr lang="en-US"/>
              <a:t>- Fog image (Unsplash): https://unsplash.com/photos/a-truck-driving-down-a-foggy-road-at-night-EFQg9MocIIY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56" name="Google Shape;56;g3cd2152c343_1_0:notes"/>
          <p:cNvSpPr txBox="1"/>
          <p:nvPr>
            <p:ph idx="12" type="sldNum"/>
          </p:nvPr>
        </p:nvSpPr>
        <p:spPr>
          <a:xfrm>
            <a:off x="4661536" y="10422256"/>
            <a:ext cx="35664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73125" lIns="146275" spcFirstLastPara="1" rIns="146275" wrap="square" tIns="73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200"/>
              <a:t>‹#›</a:t>
            </a:fld>
            <a:endParaRPr sz="2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d2152c343_1_38:notes"/>
          <p:cNvSpPr/>
          <p:nvPr>
            <p:ph idx="2" type="sldImg"/>
          </p:nvPr>
        </p:nvSpPr>
        <p:spPr>
          <a:xfrm>
            <a:off x="822960" y="1371600"/>
            <a:ext cx="6583800" cy="370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3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cd2152c343_1_38:notes"/>
          <p:cNvSpPr txBox="1"/>
          <p:nvPr>
            <p:ph idx="1" type="body"/>
          </p:nvPr>
        </p:nvSpPr>
        <p:spPr>
          <a:xfrm>
            <a:off x="822960" y="5280660"/>
            <a:ext cx="6583800" cy="43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Plots on this slide are illustrative placeholders generated by the team (not from external sources).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78" name="Google Shape;78;g3cd2152c343_1_38:notes"/>
          <p:cNvSpPr txBox="1"/>
          <p:nvPr>
            <p:ph idx="12" type="sldNum"/>
          </p:nvPr>
        </p:nvSpPr>
        <p:spPr>
          <a:xfrm>
            <a:off x="4661536" y="10422256"/>
            <a:ext cx="35664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b" bIns="73125" lIns="146275" spcFirstLastPara="1" rIns="146275" wrap="square" tIns="73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200"/>
              <a:t>‹#›</a:t>
            </a:fld>
            <a:endParaRPr sz="2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d2152c343_1_64:notes"/>
          <p:cNvSpPr/>
          <p:nvPr>
            <p:ph idx="2" type="sldImg"/>
          </p:nvPr>
        </p:nvSpPr>
        <p:spPr>
          <a:xfrm>
            <a:off x="1097280" y="1828800"/>
            <a:ext cx="8778300" cy="4937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203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cd2152c343_1_64:notes"/>
          <p:cNvSpPr txBox="1"/>
          <p:nvPr>
            <p:ph idx="1" type="body"/>
          </p:nvPr>
        </p:nvSpPr>
        <p:spPr>
          <a:xfrm>
            <a:off x="1097280" y="7040880"/>
            <a:ext cx="8778300" cy="57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125" lIns="146275" spcFirstLastPara="1" rIns="146275" wrap="square" tIns="7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cd2152c343_1_64:notes"/>
          <p:cNvSpPr txBox="1"/>
          <p:nvPr>
            <p:ph idx="12" type="sldNum"/>
          </p:nvPr>
        </p:nvSpPr>
        <p:spPr>
          <a:xfrm>
            <a:off x="6215381" y="13896341"/>
            <a:ext cx="47550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b" bIns="73125" lIns="146275" spcFirstLastPara="1" rIns="146275" wrap="square" tIns="731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200"/>
              <a:t>‹#›</a:t>
            </a:fld>
            <a:endParaRPr sz="2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" name="Google Shape;9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" name="Google Shape;13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" name="Google Shape;17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" name="Google Shape;21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" name="Google Shape;25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" name="Google Shape;29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7" name="Google Shape;37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jpg"/><Relationship Id="rId4" Type="http://schemas.openxmlformats.org/officeDocument/2006/relationships/image" Target="../media/image19.jpg"/><Relationship Id="rId5" Type="http://schemas.openxmlformats.org/officeDocument/2006/relationships/image" Target="../media/image17.jpg"/><Relationship Id="rId6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1.png"/><Relationship Id="rId8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6.jpg"/><Relationship Id="rId5" Type="http://schemas.openxmlformats.org/officeDocument/2006/relationships/image" Target="../media/image14.jpg"/><Relationship Id="rId6" Type="http://schemas.openxmlformats.org/officeDocument/2006/relationships/image" Target="../media/image13.png"/><Relationship Id="rId7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/>
          <p:nvPr/>
        </p:nvSpPr>
        <p:spPr>
          <a:xfrm>
            <a:off x="0" y="0"/>
            <a:ext cx="241500" cy="8229600"/>
          </a:xfrm>
          <a:prstGeom prst="rect">
            <a:avLst/>
          </a:prstGeom>
          <a:solidFill>
            <a:srgbClr val="073763"/>
          </a:solidFill>
          <a:ln cap="flat" cmpd="sng" w="20325">
            <a:solidFill>
              <a:srgbClr val="2012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1"/>
          <p:cNvSpPr/>
          <p:nvPr/>
        </p:nvSpPr>
        <p:spPr>
          <a:xfrm>
            <a:off x="822960" y="1316736"/>
            <a:ext cx="133866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100"/>
              <a:buFont typeface="Calibri"/>
              <a:buNone/>
            </a:pPr>
            <a:r>
              <a:rPr b="1" lang="en-US" sz="5100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#6 </a:t>
            </a:r>
            <a:r>
              <a:rPr b="1" i="0" lang="en-US" sz="5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ODD + OOD Detection for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100"/>
              <a:buFont typeface="Calibri"/>
              <a:buNone/>
            </a:pPr>
            <a:r>
              <a:rPr b="1" i="0" lang="en-US" sz="51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Safe Autonomy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1"/>
          <p:cNvSpPr/>
          <p:nvPr/>
        </p:nvSpPr>
        <p:spPr>
          <a:xfrm>
            <a:off x="855878" y="3017520"/>
            <a:ext cx="131673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Camera-based safety gate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1"/>
          <p:cNvSpPr/>
          <p:nvPr/>
        </p:nvSpPr>
        <p:spPr>
          <a:xfrm>
            <a:off x="822960" y="3950208"/>
            <a:ext cx="6803100" cy="24138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203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60960" rotWithShape="0" algn="bl" dir="2700000" dist="20320">
              <a:srgbClr val="000000">
                <a:alpha val="14900"/>
              </a:srgbClr>
            </a:outerShdw>
          </a:effectLst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1152144" y="4147718"/>
            <a:ext cx="61449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Members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1"/>
          <p:cNvSpPr/>
          <p:nvPr/>
        </p:nvSpPr>
        <p:spPr>
          <a:xfrm>
            <a:off x="1152144" y="4553712"/>
            <a:ext cx="6144900" cy="142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Tharun Reddy Challabotla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HariChandana Srikurmum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Srija </a:t>
            </a:r>
            <a:r>
              <a:rPr lang="en-US" sz="16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Pentyala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None/>
            </a:pPr>
            <a:r>
              <a:t/>
            </a:r>
            <a:endParaRPr sz="18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1"/>
          <p:cNvSpPr/>
          <p:nvPr/>
        </p:nvSpPr>
        <p:spPr>
          <a:xfrm>
            <a:off x="658368" y="7845552"/>
            <a:ext cx="13313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1"/>
          <p:cNvSpPr/>
          <p:nvPr/>
        </p:nvSpPr>
        <p:spPr>
          <a:xfrm>
            <a:off x="9131935" y="3908060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100"/>
              <a:buFont typeface="Crimson Pro SemiBold"/>
              <a:buNone/>
            </a:pPr>
            <a:r>
              <a:rPr b="1" lang="en-US" sz="21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Quick Overview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1"/>
          <p:cNvSpPr/>
          <p:nvPr/>
        </p:nvSpPr>
        <p:spPr>
          <a:xfrm>
            <a:off x="9131935" y="4449318"/>
            <a:ext cx="3515400" cy="22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650"/>
              <a:buFont typeface="Heebo"/>
              <a:buChar char="•"/>
            </a:pPr>
            <a:r>
              <a:rPr b="1" lang="en-US" sz="16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Input:</a:t>
            </a:r>
            <a:r>
              <a:rPr lang="en-US" sz="16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Front camera frame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650"/>
              <a:buFont typeface="Heebo"/>
              <a:buChar char="•"/>
            </a:pPr>
            <a:r>
              <a:rPr b="1" lang="en-US" sz="16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Output:</a:t>
            </a:r>
            <a:r>
              <a:rPr lang="en-US" sz="16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Trust / Abstain decision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650"/>
              <a:buFont typeface="Heebo"/>
              <a:buChar char="•"/>
            </a:pPr>
            <a:r>
              <a:rPr b="1" lang="en-US" sz="16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Focus:</a:t>
            </a:r>
            <a:r>
              <a:rPr lang="en-US" sz="16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ODD boundary detection &amp; OOD uncertainty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650"/>
              <a:buFont typeface="Heebo"/>
              <a:buChar char="•"/>
            </a:pPr>
            <a:r>
              <a:rPr b="1" lang="en-US" sz="16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Metrics:</a:t>
            </a:r>
            <a:r>
              <a:rPr lang="en-US" sz="165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 AUROC, False-Safe Rate, ECE</a:t>
            </a:r>
            <a:endParaRPr sz="16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/>
          <p:nvPr/>
        </p:nvSpPr>
        <p:spPr>
          <a:xfrm>
            <a:off x="0" y="0"/>
            <a:ext cx="14629800" cy="680100"/>
          </a:xfrm>
          <a:prstGeom prst="rect">
            <a:avLst/>
          </a:prstGeom>
          <a:solidFill>
            <a:srgbClr val="111827"/>
          </a:solidFill>
          <a:ln cap="flat" cmpd="sng" w="203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2"/>
          <p:cNvSpPr/>
          <p:nvPr/>
        </p:nvSpPr>
        <p:spPr>
          <a:xfrm>
            <a:off x="658368" y="153619"/>
            <a:ext cx="13313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topic &amp; goal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2"/>
          <p:cNvSpPr/>
          <p:nvPr/>
        </p:nvSpPr>
        <p:spPr>
          <a:xfrm>
            <a:off x="658368" y="987552"/>
            <a:ext cx="6748200" cy="64737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203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60960" rotWithShape="0" algn="bl" dir="2700000" dist="20320">
              <a:srgbClr val="000000">
                <a:alpha val="14900"/>
              </a:srgbClr>
            </a:outerShdw>
          </a:effectLst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2"/>
          <p:cNvSpPr/>
          <p:nvPr/>
        </p:nvSpPr>
        <p:spPr>
          <a:xfrm>
            <a:off x="987552" y="1261872"/>
            <a:ext cx="61449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2"/>
          <p:cNvSpPr/>
          <p:nvPr/>
        </p:nvSpPr>
        <p:spPr>
          <a:xfrm>
            <a:off x="987550" y="1645926"/>
            <a:ext cx="6309000" cy="146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Perception models can be overconfident when driving conditions shift (night, rain, fog, construction).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False confidence outside the Operational Design Domain (ODD) is safety-critical.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2"/>
          <p:cNvSpPr/>
          <p:nvPr/>
        </p:nvSpPr>
        <p:spPr>
          <a:xfrm>
            <a:off x="987550" y="3490779"/>
            <a:ext cx="6144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Goal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2"/>
          <p:cNvSpPr/>
          <p:nvPr/>
        </p:nvSpPr>
        <p:spPr>
          <a:xfrm>
            <a:off x="987550" y="3840475"/>
            <a:ext cx="6309000" cy="186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Build a safety gate that outputs: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1) </a:t>
            </a: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In-ODD vs OOD score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2) </a:t>
            </a: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Calibrated risk score → Trust / Caution / Abstain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800"/>
              <a:buFont typeface="Calibri"/>
              <a:buNone/>
            </a:pPr>
            <a:r>
              <a:rPr lang="en-US" sz="18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If risk &gt; τ → abstain / safe fallback (slowdown in sim).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2"/>
          <p:cNvSpPr/>
          <p:nvPr/>
        </p:nvSpPr>
        <p:spPr>
          <a:xfrm>
            <a:off x="7626080" y="987560"/>
            <a:ext cx="6553800" cy="64737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203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60960" rotWithShape="0" algn="bl" dir="2700000" dist="20320">
              <a:srgbClr val="000000">
                <a:alpha val="14900"/>
              </a:srgbClr>
            </a:outerShdw>
          </a:effectLst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2"/>
          <p:cNvSpPr/>
          <p:nvPr/>
        </p:nvSpPr>
        <p:spPr>
          <a:xfrm>
            <a:off x="7955280" y="1261872"/>
            <a:ext cx="57057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Illustration: same road, different conditions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mnt/data/av_images/day.jpg" id="67" name="Google Shape;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0" y="1645920"/>
            <a:ext cx="2798065" cy="19202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v_images/night.jpg" id="68" name="Google Shape;6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27664" y="1645920"/>
            <a:ext cx="2798069" cy="1920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v_images/rain.jpg" id="69" name="Google Shape;6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55280" y="3840480"/>
            <a:ext cx="2798069" cy="19202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mnt/data/av_images/fog.jpg" id="70" name="Google Shape;7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27664" y="3840480"/>
            <a:ext cx="2798065" cy="1920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2"/>
          <p:cNvSpPr/>
          <p:nvPr/>
        </p:nvSpPr>
        <p:spPr>
          <a:xfrm>
            <a:off x="7955280" y="3588106"/>
            <a:ext cx="2797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Day+Clear(In-ODD)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2"/>
          <p:cNvSpPr/>
          <p:nvPr/>
        </p:nvSpPr>
        <p:spPr>
          <a:xfrm>
            <a:off x="11027664" y="3588106"/>
            <a:ext cx="2797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Night (OOD)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2"/>
          <p:cNvSpPr/>
          <p:nvPr/>
        </p:nvSpPr>
        <p:spPr>
          <a:xfrm>
            <a:off x="7955280" y="5782666"/>
            <a:ext cx="2797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Rain (OOD)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2"/>
          <p:cNvSpPr/>
          <p:nvPr/>
        </p:nvSpPr>
        <p:spPr>
          <a:xfrm>
            <a:off x="11027664" y="5782666"/>
            <a:ext cx="27978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Fog (OOD)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/>
          <p:nvPr/>
        </p:nvSpPr>
        <p:spPr>
          <a:xfrm>
            <a:off x="0" y="0"/>
            <a:ext cx="14629800" cy="680100"/>
          </a:xfrm>
          <a:prstGeom prst="rect">
            <a:avLst/>
          </a:prstGeom>
          <a:solidFill>
            <a:srgbClr val="111827"/>
          </a:solidFill>
          <a:ln cap="flat" cmpd="sng" w="203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658368" y="153619"/>
            <a:ext cx="13313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254575" y="821975"/>
            <a:ext cx="7677600" cy="7023600"/>
          </a:xfrm>
          <a:prstGeom prst="roundRect">
            <a:avLst>
              <a:gd fmla="val 16667" name="adj"/>
            </a:avLst>
          </a:prstGeom>
          <a:solidFill>
            <a:srgbClr val="F9FAFB"/>
          </a:solidFill>
          <a:ln cap="flat" cmpd="sng" w="203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60960" rotWithShape="0" algn="bl" dir="2700000" dist="20320">
              <a:srgbClr val="000000">
                <a:alpha val="14900"/>
              </a:srgbClr>
            </a:outerShdw>
          </a:effectLst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3"/>
          <p:cNvSpPr/>
          <p:nvPr/>
        </p:nvSpPr>
        <p:spPr>
          <a:xfrm>
            <a:off x="413270" y="1256372"/>
            <a:ext cx="59598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900"/>
              <a:buFont typeface="Calibri"/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Dataset plan (BDD100K+ IDD)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413270" y="1585556"/>
            <a:ext cx="61722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Define a clear ODD, then test shifts as OOD buckets.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658360" y="2339876"/>
            <a:ext cx="2713500" cy="1097400"/>
          </a:xfrm>
          <a:prstGeom prst="roundRect">
            <a:avLst>
              <a:gd fmla="val 16667" name="adj"/>
            </a:avLst>
          </a:prstGeom>
          <a:solidFill>
            <a:srgbClr val="DBEAFE"/>
          </a:solidFill>
          <a:ln cap="flat" cmpd="sng" w="203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786064" y="2367390"/>
            <a:ext cx="2458500" cy="83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In-ODD (ID)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Day + Clear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(choose city/highway)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3446359" y="2902314"/>
            <a:ext cx="585000" cy="483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7280"/>
          </a:solidFill>
          <a:ln cap="flat" cmpd="sng" w="20325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3978338" y="2134196"/>
            <a:ext cx="2926200" cy="658500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 cap="flat" cmpd="sng" w="203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/>
          <p:nvPr/>
        </p:nvSpPr>
        <p:spPr>
          <a:xfrm>
            <a:off x="4106042" y="2211038"/>
            <a:ext cx="26712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OOD bucket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Night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3978338" y="2990074"/>
            <a:ext cx="2926200" cy="658500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 cap="flat" cmpd="sng" w="203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4106042" y="3077857"/>
            <a:ext cx="26712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OOD bucket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Rain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3978338" y="3845953"/>
            <a:ext cx="2926200" cy="658500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 cap="flat" cmpd="sng" w="203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4106042" y="3933735"/>
            <a:ext cx="26712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OOD bucket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Fog / Snow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3978338" y="4701831"/>
            <a:ext cx="2926200" cy="658500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 cap="flat" cmpd="sng" w="203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4106042" y="4789614"/>
            <a:ext cx="2671200" cy="4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OOD bucket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11827"/>
                </a:solidFill>
                <a:latin typeface="Calibri"/>
                <a:ea typeface="Calibri"/>
                <a:cs typeface="Calibri"/>
                <a:sym typeface="Calibri"/>
              </a:rPr>
              <a:t>Construction (optional)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413270" y="4767668"/>
            <a:ext cx="6172200" cy="3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“hard OOD” tests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413270" y="5096852"/>
            <a:ext cx="6172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Unseen locations (</a:t>
            </a:r>
            <a:r>
              <a:rPr lang="en-US" sz="14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city</a:t>
            </a: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lang="en-US" sz="1400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route</a:t>
            </a: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 split)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Synthetic corruptions (blur, glare)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• Short clips: frame-to-frame stability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658368" y="7845552"/>
            <a:ext cx="13313400" cy="27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4850" lIns="109725" spcFirstLastPara="1" rIns="109725" wrap="square" tIns="548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25080" y="924000"/>
            <a:ext cx="3864839" cy="6677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>
            <a:off x="731520" y="1228954"/>
            <a:ext cx="68766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Existing OOD detection approaches: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731720" y="1872680"/>
            <a:ext cx="70224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MSP</a:t>
            </a:r>
            <a:r>
              <a:rPr lang="en-US" sz="1800">
                <a:solidFill>
                  <a:schemeClr val="dk1"/>
                </a:solidFill>
              </a:rPr>
              <a:t> [Hendrycks &amp; Gimpel, 2017] — Max softmax as confidence; fast but overconfident.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t/>
            </a:r>
            <a:endParaRPr b="1"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731520" y="2823680"/>
            <a:ext cx="70767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Energy</a:t>
            </a:r>
            <a:r>
              <a:rPr lang="en-US" sz="1800">
                <a:solidFill>
                  <a:schemeClr val="dk1"/>
                </a:solidFill>
              </a:rPr>
              <a:t> [Liu et al., 2020] — Log-sum-exp score; stronger ID–OOD separation.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t/>
            </a:r>
            <a:endParaRPr b="1"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731280" y="3479680"/>
            <a:ext cx="7076700" cy="137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MC Dropout</a:t>
            </a:r>
            <a:r>
              <a:rPr lang="en-US" sz="1800">
                <a:solidFill>
                  <a:schemeClr val="dk1"/>
                </a:solidFill>
              </a:rPr>
              <a:t> [Gal &amp; Ghahramani, 2016] — Multi-pass dropout at test time for uncertainty.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t/>
            </a:r>
            <a:endParaRPr b="1"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731525" y="4503450"/>
            <a:ext cx="70224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Ensembles</a:t>
            </a:r>
            <a:r>
              <a:rPr lang="en-US" sz="1800">
                <a:solidFill>
                  <a:schemeClr val="dk1"/>
                </a:solidFill>
              </a:rPr>
              <a:t> [Lakshminarayanan et al., 2017] — 2–3 models; disagreement gives uncertainty.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alibri"/>
              <a:buNone/>
            </a:pPr>
            <a:r>
              <a:t/>
            </a:r>
            <a:endParaRPr b="1"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4"/>
          <p:cNvSpPr/>
          <p:nvPr/>
        </p:nvSpPr>
        <p:spPr>
          <a:xfrm>
            <a:off x="731275" y="5411274"/>
            <a:ext cx="7076700" cy="18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How we differ:</a:t>
            </a:r>
            <a:r>
              <a:rPr lang="en-US" sz="1800">
                <a:solidFill>
                  <a:schemeClr val="dk1"/>
                </a:solidFill>
              </a:rPr>
              <a:t> We define a driving </a:t>
            </a:r>
            <a:r>
              <a:rPr b="1" lang="en-US" sz="1800">
                <a:solidFill>
                  <a:schemeClr val="dk1"/>
                </a:solidFill>
              </a:rPr>
              <a:t>ODD</a:t>
            </a:r>
            <a:r>
              <a:rPr lang="en-US" sz="1800">
                <a:solidFill>
                  <a:schemeClr val="dk1"/>
                </a:solidFill>
              </a:rPr>
              <a:t> + bucketed shifts, not generic ID/OOD. We tune a calibrated </a:t>
            </a:r>
            <a:r>
              <a:rPr b="1" lang="en-US" sz="1800">
                <a:solidFill>
                  <a:schemeClr val="dk1"/>
                </a:solidFill>
              </a:rPr>
              <a:t>trust/abstain gate</a:t>
            </a:r>
            <a:r>
              <a:rPr lang="en-US" sz="1800">
                <a:solidFill>
                  <a:schemeClr val="dk1"/>
                </a:solidFill>
              </a:rPr>
              <a:t> to cut </a:t>
            </a:r>
            <a:r>
              <a:rPr b="1" lang="en-US" sz="1800">
                <a:solidFill>
                  <a:schemeClr val="dk1"/>
                </a:solidFill>
              </a:rPr>
              <a:t>false-safe</a:t>
            </a:r>
            <a:r>
              <a:rPr lang="en-US" sz="1800">
                <a:solidFill>
                  <a:schemeClr val="dk1"/>
                </a:solidFill>
              </a:rPr>
              <a:t> errors.</a:t>
            </a:r>
            <a:endParaRPr b="1" sz="2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4"/>
          <p:cNvSpPr/>
          <p:nvPr/>
        </p:nvSpPr>
        <p:spPr>
          <a:xfrm>
            <a:off x="8193024" y="1228954"/>
            <a:ext cx="5998500" cy="51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Calibri"/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Method comparison: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/>
          <p:nvPr/>
        </p:nvSpPr>
        <p:spPr>
          <a:xfrm>
            <a:off x="8193024" y="1872691"/>
            <a:ext cx="1755900" cy="555900"/>
          </a:xfrm>
          <a:prstGeom prst="rect">
            <a:avLst/>
          </a:prstGeom>
          <a:solidFill>
            <a:srgbClr val="1A3A6B"/>
          </a:solidFill>
          <a:ln cap="flat" cmpd="sng" w="20325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8193024" y="1872691"/>
            <a:ext cx="17559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Method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10021824" y="1872691"/>
            <a:ext cx="1463100" cy="555900"/>
          </a:xfrm>
          <a:prstGeom prst="rect">
            <a:avLst/>
          </a:prstGeom>
          <a:solidFill>
            <a:srgbClr val="1A3A6B"/>
          </a:solidFill>
          <a:ln cap="flat" cmpd="sng" w="20325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10021824" y="1872691"/>
            <a:ext cx="14631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Calibrated?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11558016" y="1872691"/>
            <a:ext cx="1463100" cy="555900"/>
          </a:xfrm>
          <a:prstGeom prst="rect">
            <a:avLst/>
          </a:prstGeom>
          <a:solidFill>
            <a:srgbClr val="1A3A6B"/>
          </a:solidFill>
          <a:ln cap="flat" cmpd="sng" w="20325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11558016" y="1872691"/>
            <a:ext cx="14631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Efficient?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/>
          <p:nvPr/>
        </p:nvSpPr>
        <p:spPr>
          <a:xfrm>
            <a:off x="13094208" y="1872691"/>
            <a:ext cx="1243800" cy="555900"/>
          </a:xfrm>
          <a:prstGeom prst="rect">
            <a:avLst/>
          </a:prstGeom>
          <a:solidFill>
            <a:srgbClr val="1A3A6B"/>
          </a:solidFill>
          <a:ln cap="flat" cmpd="sng" w="20325">
            <a:solidFill>
              <a:srgbClr val="1A3A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13094208" y="1872691"/>
            <a:ext cx="12438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OOD?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8193024" y="2457907"/>
            <a:ext cx="1755900" cy="643800"/>
          </a:xfrm>
          <a:prstGeom prst="rect">
            <a:avLst/>
          </a:prstGeom>
          <a:solidFill>
            <a:srgbClr val="F9F9F9"/>
          </a:solidFill>
          <a:ln cap="flat" cmpd="sng" w="203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"/>
          <p:cNvSpPr/>
          <p:nvPr/>
        </p:nvSpPr>
        <p:spPr>
          <a:xfrm>
            <a:off x="8193024" y="2457907"/>
            <a:ext cx="17559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MSP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/>
          <p:nvPr/>
        </p:nvSpPr>
        <p:spPr>
          <a:xfrm>
            <a:off x="10021824" y="2457907"/>
            <a:ext cx="1463100" cy="643800"/>
          </a:xfrm>
          <a:prstGeom prst="rect">
            <a:avLst/>
          </a:prstGeom>
          <a:solidFill>
            <a:srgbClr val="F9F9F9"/>
          </a:solidFill>
          <a:ln cap="flat" cmpd="sng" w="203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10021824" y="2457907"/>
            <a:ext cx="14631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/>
          <p:nvPr/>
        </p:nvSpPr>
        <p:spPr>
          <a:xfrm>
            <a:off x="11558016" y="2457907"/>
            <a:ext cx="1463100" cy="643800"/>
          </a:xfrm>
          <a:prstGeom prst="rect">
            <a:avLst/>
          </a:prstGeom>
          <a:solidFill>
            <a:srgbClr val="F9F9F9"/>
          </a:solidFill>
          <a:ln cap="flat" cmpd="sng" w="203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11558016" y="2457907"/>
            <a:ext cx="14631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E35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B7E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13094208" y="2457907"/>
            <a:ext cx="1243800" cy="643800"/>
          </a:xfrm>
          <a:prstGeom prst="rect">
            <a:avLst/>
          </a:prstGeom>
          <a:solidFill>
            <a:srgbClr val="F9F9F9"/>
          </a:solidFill>
          <a:ln cap="flat" cmpd="sng" w="203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4"/>
          <p:cNvSpPr/>
          <p:nvPr/>
        </p:nvSpPr>
        <p:spPr>
          <a:xfrm>
            <a:off x="13094208" y="2457907"/>
            <a:ext cx="12438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66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886600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8193024" y="3130906"/>
            <a:ext cx="1755900" cy="643800"/>
          </a:xfrm>
          <a:prstGeom prst="rect">
            <a:avLst/>
          </a:prstGeom>
          <a:solidFill>
            <a:srgbClr val="F2F2F2"/>
          </a:solidFill>
          <a:ln cap="flat" cmpd="sng" w="203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4"/>
          <p:cNvSpPr/>
          <p:nvPr/>
        </p:nvSpPr>
        <p:spPr>
          <a:xfrm>
            <a:off x="8193024" y="3130906"/>
            <a:ext cx="17559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Energy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10021824" y="3130906"/>
            <a:ext cx="1463100" cy="643800"/>
          </a:xfrm>
          <a:prstGeom prst="rect">
            <a:avLst/>
          </a:prstGeom>
          <a:solidFill>
            <a:srgbClr val="F2F2F2"/>
          </a:solidFill>
          <a:ln cap="flat" cmpd="sng" w="203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10021824" y="3130906"/>
            <a:ext cx="14631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66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886600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11558016" y="3130906"/>
            <a:ext cx="1463100" cy="643800"/>
          </a:xfrm>
          <a:prstGeom prst="rect">
            <a:avLst/>
          </a:prstGeom>
          <a:solidFill>
            <a:srgbClr val="F2F2F2"/>
          </a:solidFill>
          <a:ln cap="flat" cmpd="sng" w="203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4"/>
          <p:cNvSpPr/>
          <p:nvPr/>
        </p:nvSpPr>
        <p:spPr>
          <a:xfrm>
            <a:off x="11558016" y="3130906"/>
            <a:ext cx="14631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E35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B7E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13094208" y="3130906"/>
            <a:ext cx="1243800" cy="643800"/>
          </a:xfrm>
          <a:prstGeom prst="rect">
            <a:avLst/>
          </a:prstGeom>
          <a:solidFill>
            <a:srgbClr val="F2F2F2"/>
          </a:solidFill>
          <a:ln cap="flat" cmpd="sng" w="203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4"/>
          <p:cNvSpPr/>
          <p:nvPr/>
        </p:nvSpPr>
        <p:spPr>
          <a:xfrm>
            <a:off x="13094208" y="3130906"/>
            <a:ext cx="12438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E35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B7E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4"/>
          <p:cNvSpPr/>
          <p:nvPr/>
        </p:nvSpPr>
        <p:spPr>
          <a:xfrm>
            <a:off x="8193024" y="3803904"/>
            <a:ext cx="1755900" cy="643800"/>
          </a:xfrm>
          <a:prstGeom prst="rect">
            <a:avLst/>
          </a:prstGeom>
          <a:solidFill>
            <a:srgbClr val="F9F9F9"/>
          </a:solidFill>
          <a:ln cap="flat" cmpd="sng" w="203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4"/>
          <p:cNvSpPr/>
          <p:nvPr/>
        </p:nvSpPr>
        <p:spPr>
          <a:xfrm>
            <a:off x="8193024" y="3803904"/>
            <a:ext cx="17559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MC Dropout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10021824" y="3803904"/>
            <a:ext cx="1463100" cy="643800"/>
          </a:xfrm>
          <a:prstGeom prst="rect">
            <a:avLst/>
          </a:prstGeom>
          <a:solidFill>
            <a:srgbClr val="F9F9F9"/>
          </a:solidFill>
          <a:ln cap="flat" cmpd="sng" w="203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10021824" y="3803904"/>
            <a:ext cx="14631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E35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B7E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/>
          <p:nvPr/>
        </p:nvSpPr>
        <p:spPr>
          <a:xfrm>
            <a:off x="11558016" y="3803904"/>
            <a:ext cx="1463100" cy="643800"/>
          </a:xfrm>
          <a:prstGeom prst="rect">
            <a:avLst/>
          </a:prstGeom>
          <a:solidFill>
            <a:srgbClr val="F9F9F9"/>
          </a:solidFill>
          <a:ln cap="flat" cmpd="sng" w="203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11558016" y="3803904"/>
            <a:ext cx="14631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66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886600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13094208" y="3803904"/>
            <a:ext cx="1243800" cy="643800"/>
          </a:xfrm>
          <a:prstGeom prst="rect">
            <a:avLst/>
          </a:prstGeom>
          <a:solidFill>
            <a:srgbClr val="F9F9F9"/>
          </a:solidFill>
          <a:ln cap="flat" cmpd="sng" w="203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13094208" y="3803904"/>
            <a:ext cx="12438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E35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B7E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8193024" y="4476902"/>
            <a:ext cx="1755900" cy="643800"/>
          </a:xfrm>
          <a:prstGeom prst="rect">
            <a:avLst/>
          </a:prstGeom>
          <a:solidFill>
            <a:srgbClr val="F2F2F2"/>
          </a:solidFill>
          <a:ln cap="flat" cmpd="sng" w="203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8193024" y="4476902"/>
            <a:ext cx="17559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Ensemble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10021824" y="4476902"/>
            <a:ext cx="1463100" cy="643800"/>
          </a:xfrm>
          <a:prstGeom prst="rect">
            <a:avLst/>
          </a:prstGeom>
          <a:solidFill>
            <a:srgbClr val="F2F2F2"/>
          </a:solidFill>
          <a:ln cap="flat" cmpd="sng" w="203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4"/>
          <p:cNvSpPr/>
          <p:nvPr/>
        </p:nvSpPr>
        <p:spPr>
          <a:xfrm>
            <a:off x="10021824" y="4476902"/>
            <a:ext cx="14631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E35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B7E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11558016" y="4476902"/>
            <a:ext cx="1463100" cy="643800"/>
          </a:xfrm>
          <a:prstGeom prst="rect">
            <a:avLst/>
          </a:prstGeom>
          <a:solidFill>
            <a:srgbClr val="F2F2F2"/>
          </a:solidFill>
          <a:ln cap="flat" cmpd="sng" w="203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"/>
          <p:cNvSpPr/>
          <p:nvPr/>
        </p:nvSpPr>
        <p:spPr>
          <a:xfrm>
            <a:off x="11558016" y="4476902"/>
            <a:ext cx="14631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66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886600"/>
                </a:solidFill>
                <a:latin typeface="Calibri"/>
                <a:ea typeface="Calibri"/>
                <a:cs typeface="Calibri"/>
                <a:sym typeface="Calibri"/>
              </a:rPr>
              <a:t>~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13094208" y="4476902"/>
            <a:ext cx="1243800" cy="643800"/>
          </a:xfrm>
          <a:prstGeom prst="rect">
            <a:avLst/>
          </a:prstGeom>
          <a:solidFill>
            <a:srgbClr val="F2F2F2"/>
          </a:solidFill>
          <a:ln cap="flat" cmpd="sng" w="20325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4"/>
          <p:cNvSpPr/>
          <p:nvPr/>
        </p:nvSpPr>
        <p:spPr>
          <a:xfrm>
            <a:off x="13094208" y="4476902"/>
            <a:ext cx="12438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E35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B7E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8193024" y="5149901"/>
            <a:ext cx="1755900" cy="643800"/>
          </a:xfrm>
          <a:prstGeom prst="rect">
            <a:avLst/>
          </a:prstGeom>
          <a:solidFill>
            <a:srgbClr val="E8F5E9"/>
          </a:solidFill>
          <a:ln cap="flat" cmpd="sng" w="30475">
            <a:solidFill>
              <a:srgbClr val="3CB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4"/>
          <p:cNvSpPr/>
          <p:nvPr/>
        </p:nvSpPr>
        <p:spPr>
          <a:xfrm>
            <a:off x="8193024" y="5149901"/>
            <a:ext cx="17559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5E20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B5E20"/>
                </a:solidFill>
                <a:latin typeface="Calibri"/>
                <a:ea typeface="Calibri"/>
                <a:cs typeface="Calibri"/>
                <a:sym typeface="Calibri"/>
              </a:rPr>
              <a:t>Ours (gate)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10021824" y="5149901"/>
            <a:ext cx="1463100" cy="643800"/>
          </a:xfrm>
          <a:prstGeom prst="rect">
            <a:avLst/>
          </a:prstGeom>
          <a:solidFill>
            <a:srgbClr val="E8F5E9"/>
          </a:solidFill>
          <a:ln cap="flat" cmpd="sng" w="30475">
            <a:solidFill>
              <a:srgbClr val="3CB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4"/>
          <p:cNvSpPr/>
          <p:nvPr/>
        </p:nvSpPr>
        <p:spPr>
          <a:xfrm>
            <a:off x="10021824" y="5149901"/>
            <a:ext cx="14631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E35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B7E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11558016" y="5149901"/>
            <a:ext cx="1463100" cy="643800"/>
          </a:xfrm>
          <a:prstGeom prst="rect">
            <a:avLst/>
          </a:prstGeom>
          <a:solidFill>
            <a:srgbClr val="E8F5E9"/>
          </a:solidFill>
          <a:ln cap="flat" cmpd="sng" w="30475">
            <a:solidFill>
              <a:srgbClr val="3CB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4"/>
          <p:cNvSpPr/>
          <p:nvPr/>
        </p:nvSpPr>
        <p:spPr>
          <a:xfrm>
            <a:off x="11558016" y="5149901"/>
            <a:ext cx="14631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E35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B7E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4"/>
          <p:cNvSpPr/>
          <p:nvPr/>
        </p:nvSpPr>
        <p:spPr>
          <a:xfrm>
            <a:off x="13094208" y="5149901"/>
            <a:ext cx="1243800" cy="643800"/>
          </a:xfrm>
          <a:prstGeom prst="rect">
            <a:avLst/>
          </a:prstGeom>
          <a:solidFill>
            <a:srgbClr val="E8F5E9"/>
          </a:solidFill>
          <a:ln cap="flat" cmpd="sng" w="30475">
            <a:solidFill>
              <a:srgbClr val="3CB37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6275" lIns="146275" spcFirstLastPara="1" rIns="146275" wrap="square" tIns="146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"/>
          <p:cNvSpPr/>
          <p:nvPr/>
        </p:nvSpPr>
        <p:spPr>
          <a:xfrm>
            <a:off x="13094208" y="5149901"/>
            <a:ext cx="1243800" cy="6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73125" lIns="146275" spcFirstLastPara="1" rIns="146275" wrap="square" tIns="731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7E35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B7E3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4"/>
          <p:cNvSpPr/>
          <p:nvPr/>
        </p:nvSpPr>
        <p:spPr>
          <a:xfrm>
            <a:off x="0" y="0"/>
            <a:ext cx="14629800" cy="680100"/>
          </a:xfrm>
          <a:prstGeom prst="rect">
            <a:avLst/>
          </a:prstGeom>
          <a:solidFill>
            <a:srgbClr val="111827"/>
          </a:solidFill>
          <a:ln cap="flat" cmpd="sng" w="203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Baseline &amp; related work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"/>
          <p:cNvSpPr/>
          <p:nvPr/>
        </p:nvSpPr>
        <p:spPr>
          <a:xfrm>
            <a:off x="477329" y="375056"/>
            <a:ext cx="9285000" cy="6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rimson Pro SemiBold"/>
              <a:buNone/>
            </a:pPr>
            <a:r>
              <a:rPr b="1" lang="en-US" sz="2400">
                <a:solidFill>
                  <a:srgbClr val="000000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Methodology &amp; Plan: Camera-Based Safety Gate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170175" y="908674"/>
            <a:ext cx="13983000" cy="2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38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Heebo"/>
              <a:buNone/>
            </a:pPr>
            <a:r>
              <a:rPr lang="en-US" sz="110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High-level steps to build and validate an ODD-aware safety gate for camera inputs.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7472" y="2344709"/>
            <a:ext cx="8889208" cy="400014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5"/>
          <p:cNvSpPr/>
          <p:nvPr/>
        </p:nvSpPr>
        <p:spPr>
          <a:xfrm>
            <a:off x="4209587" y="1028201"/>
            <a:ext cx="1555500" cy="2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00"/>
              <a:buFont typeface="Crimson Pro SemiBold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4035725" y="2604150"/>
            <a:ext cx="19032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rPr lang="en-US" sz="12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Encode images with ResNet-50 or CLIP,AutoEncoder/MAE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9384" y="2059355"/>
            <a:ext cx="344564" cy="344564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5"/>
          <p:cNvSpPr/>
          <p:nvPr/>
        </p:nvSpPr>
        <p:spPr>
          <a:xfrm>
            <a:off x="5748104" y="4028309"/>
            <a:ext cx="1564158" cy="2403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00"/>
              <a:buFont typeface="Crimson Pro SemiBold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5748104" y="4337080"/>
            <a:ext cx="1564158" cy="267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4" name="Google Shape;17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7901" y="3315810"/>
            <a:ext cx="344564" cy="344564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5"/>
          <p:cNvSpPr/>
          <p:nvPr/>
        </p:nvSpPr>
        <p:spPr>
          <a:xfrm>
            <a:off x="7269525" y="998286"/>
            <a:ext cx="1555611" cy="2403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00"/>
              <a:buFont typeface="Crimson Pro SemiBold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5"/>
          <p:cNvSpPr/>
          <p:nvPr/>
        </p:nvSpPr>
        <p:spPr>
          <a:xfrm>
            <a:off x="7269525" y="1307057"/>
            <a:ext cx="1555611" cy="2673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04965" y="2025165"/>
            <a:ext cx="344563" cy="34456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5"/>
          <p:cNvSpPr/>
          <p:nvPr/>
        </p:nvSpPr>
        <p:spPr>
          <a:xfrm>
            <a:off x="8808042" y="3961533"/>
            <a:ext cx="1555611" cy="2403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00"/>
              <a:buFont typeface="Crimson Pro SemiBold"/>
              <a:buNone/>
            </a:pPr>
            <a:r>
              <a:t/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/>
          <p:nvPr/>
        </p:nvSpPr>
        <p:spPr>
          <a:xfrm>
            <a:off x="8808042" y="4270304"/>
            <a:ext cx="1555611" cy="4010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200"/>
              <a:buFont typeface="Heebo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0" name="Google Shape;18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17839" y="3315810"/>
            <a:ext cx="344564" cy="344564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5"/>
          <p:cNvSpPr txBox="1"/>
          <p:nvPr/>
        </p:nvSpPr>
        <p:spPr>
          <a:xfrm>
            <a:off x="2359742" y="535366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3427975" y="2188650"/>
            <a:ext cx="292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Feature Extraction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 txBox="1"/>
          <p:nvPr/>
        </p:nvSpPr>
        <p:spPr>
          <a:xfrm>
            <a:off x="6169600" y="2425738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OOD Scoring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5"/>
          <p:cNvSpPr txBox="1"/>
          <p:nvPr/>
        </p:nvSpPr>
        <p:spPr>
          <a:xfrm>
            <a:off x="6291175" y="278687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Compute anomaly scores for inputs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5"/>
          <p:cNvSpPr txBox="1"/>
          <p:nvPr/>
        </p:nvSpPr>
        <p:spPr>
          <a:xfrm>
            <a:off x="4904963" y="557375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In-ODD Classifier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5163950" y="5989250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Train model to detect in-ODD scenarios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5"/>
          <p:cNvSpPr txBox="1"/>
          <p:nvPr/>
        </p:nvSpPr>
        <p:spPr>
          <a:xfrm>
            <a:off x="7904975" y="5573750"/>
            <a:ext cx="300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2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C4C4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Calibration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8090125" y="5877875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Align scores to desired risk thresholds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5"/>
          <p:cNvSpPr/>
          <p:nvPr/>
        </p:nvSpPr>
        <p:spPr>
          <a:xfrm>
            <a:off x="0" y="0"/>
            <a:ext cx="14629800" cy="763200"/>
          </a:xfrm>
          <a:prstGeom prst="rect">
            <a:avLst/>
          </a:prstGeom>
          <a:solidFill>
            <a:srgbClr val="111827"/>
          </a:solidFill>
          <a:ln cap="flat" cmpd="sng" w="203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Crimson Pro SemiBold"/>
              <a:buNone/>
            </a:pPr>
            <a:r>
              <a:rPr b="1" lang="en-US" sz="2200">
                <a:solidFill>
                  <a:schemeClr val="lt1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Methodology &amp; Plan: Camera-Based Safety Gate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598900" y="6962277"/>
            <a:ext cx="3943350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/>
          <p:nvPr/>
        </p:nvSpPr>
        <p:spPr>
          <a:xfrm>
            <a:off x="477726" y="419450"/>
            <a:ext cx="9356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Crimson Pro SemiBold"/>
              <a:buNone/>
            </a:pPr>
            <a:r>
              <a:t/>
            </a:r>
            <a:endParaRPr sz="3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763225" y="2165025"/>
            <a:ext cx="60900" cy="1666800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1020801" y="2108650"/>
            <a:ext cx="4911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rimson Pro SemiBold"/>
              <a:buNone/>
            </a:pPr>
            <a:r>
              <a:rPr b="1" lang="en-US" sz="2200">
                <a:solidFill>
                  <a:srgbClr val="000000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Feature Extraction (Frozen</a:t>
            </a:r>
            <a:r>
              <a:rPr b="1" lang="en-US" sz="2200">
                <a:latin typeface="Crimson Pro SemiBold"/>
                <a:ea typeface="Crimson Pro SemiBold"/>
                <a:cs typeface="Crimson Pro SemiBold"/>
                <a:sym typeface="Crimson Pro SemiBold"/>
              </a:rPr>
              <a:t> </a:t>
            </a:r>
            <a:r>
              <a:rPr b="1" lang="en-US" sz="2200">
                <a:solidFill>
                  <a:srgbClr val="000000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Backbone)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1065464" y="2622233"/>
            <a:ext cx="60918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Heebo"/>
              <a:buChar char="•"/>
            </a:pPr>
            <a:r>
              <a:rPr lang="en-US" sz="175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Pre-trained, frozen ResNet-50 or CLIP</a:t>
            </a:r>
            <a:r>
              <a:rPr lang="en-US" sz="1750">
                <a:latin typeface="Heebo"/>
                <a:ea typeface="Heebo"/>
                <a:cs typeface="Heebo"/>
                <a:sym typeface="Heebo"/>
              </a:rPr>
              <a:t> Or Autoencoder </a:t>
            </a:r>
            <a:r>
              <a:rPr lang="en-US" sz="175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encodes each camera frame into a fixed embedding.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Heebo"/>
              <a:buChar char="•"/>
            </a:pPr>
            <a:r>
              <a:rPr lang="en-US" sz="175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Frozen backbone keeps the gate lightweight and fast.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7398601" y="2165025"/>
            <a:ext cx="60900" cy="2082300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7744648" y="2173600"/>
            <a:ext cx="40101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rimson Pro SemiBold"/>
              <a:buNone/>
            </a:pPr>
            <a:r>
              <a:rPr b="1" lang="en-US" sz="2200">
                <a:solidFill>
                  <a:srgbClr val="000000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In-ODD vs. OOD</a:t>
            </a:r>
            <a:r>
              <a:rPr b="1" lang="en-US" sz="2200">
                <a:latin typeface="Crimson Pro SemiBold"/>
                <a:ea typeface="Crimson Pro SemiBold"/>
                <a:cs typeface="Crimson Pro SemiBold"/>
                <a:sym typeface="Crimson Pro SemiBold"/>
              </a:rPr>
              <a:t> </a:t>
            </a:r>
            <a:r>
              <a:rPr b="1" lang="en-US" sz="2200">
                <a:solidFill>
                  <a:srgbClr val="000000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Classifier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6"/>
          <p:cNvSpPr/>
          <p:nvPr/>
        </p:nvSpPr>
        <p:spPr>
          <a:xfrm>
            <a:off x="7728733" y="2781383"/>
            <a:ext cx="6092100" cy="1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Heebo"/>
              <a:buChar char="•"/>
            </a:pPr>
            <a:r>
              <a:rPr lang="en-US" sz="175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Small head (logistic regression or MLP) classifies embeddings as In-ODD or OOD.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Heebo"/>
              <a:buChar char="•"/>
            </a:pPr>
            <a:r>
              <a:rPr lang="en-US" sz="175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Trained on labeled driving data (e.g., BDD100K).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/>
          <p:nvPr/>
        </p:nvSpPr>
        <p:spPr>
          <a:xfrm>
            <a:off x="763310" y="4639985"/>
            <a:ext cx="60960" cy="2082284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1081577" y="4511675"/>
            <a:ext cx="393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rimson Pro SemiBold"/>
              <a:buNone/>
            </a:pPr>
            <a:r>
              <a:rPr b="1" lang="en-US" sz="2200">
                <a:solidFill>
                  <a:srgbClr val="000000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OOD Scoring</a:t>
            </a:r>
            <a:r>
              <a:rPr b="1" lang="en-US" sz="2200">
                <a:latin typeface="Crimson Pro SemiBold"/>
                <a:ea typeface="Crimson Pro SemiBold"/>
                <a:cs typeface="Crimson Pro SemiBold"/>
                <a:sym typeface="Crimson Pro SemiBold"/>
              </a:rPr>
              <a:t> </a:t>
            </a:r>
            <a:r>
              <a:rPr b="1" lang="en-US" sz="2200">
                <a:solidFill>
                  <a:srgbClr val="000000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(Comparative)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/>
          <p:nvPr/>
        </p:nvSpPr>
        <p:spPr>
          <a:xfrm>
            <a:off x="899214" y="5024808"/>
            <a:ext cx="6091800" cy="15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Heebo"/>
              <a:buChar char="•"/>
            </a:pPr>
            <a:r>
              <a:rPr lang="en-US" sz="175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Compare MSP (baseline), Energy score, and uncertainty methods (MC Dropout or 3-model ensemble).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Heebo"/>
              <a:buChar char="•"/>
            </a:pPr>
            <a:r>
              <a:rPr lang="en-US" sz="175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Choose the method with best ID/OOD separation on validation data.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6"/>
          <p:cNvSpPr/>
          <p:nvPr/>
        </p:nvSpPr>
        <p:spPr>
          <a:xfrm>
            <a:off x="7426404" y="4639985"/>
            <a:ext cx="60960" cy="2082284"/>
          </a:xfrm>
          <a:prstGeom prst="rect">
            <a:avLst/>
          </a:prstGeom>
          <a:solidFill>
            <a:srgbClr val="2150F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/>
          <p:nvPr/>
        </p:nvSpPr>
        <p:spPr>
          <a:xfrm>
            <a:off x="7744647" y="4670466"/>
            <a:ext cx="4107300" cy="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rimson Pro SemiBold"/>
              <a:buNone/>
            </a:pPr>
            <a:r>
              <a:rPr b="1" lang="en-US" sz="2200">
                <a:solidFill>
                  <a:srgbClr val="000000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Calibration &amp; Safety Gate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7744658" y="5160883"/>
            <a:ext cx="6091952" cy="1530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Heebo"/>
              <a:buChar char="•"/>
            </a:pPr>
            <a:r>
              <a:rPr lang="en-US" sz="175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Apply temperature scaling to improve confidence calibration.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Heebo"/>
              <a:buChar char="•"/>
            </a:pPr>
            <a:r>
              <a:rPr lang="en-US" sz="175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Set threshold τ on OOD score; if score exceeds τ → abstain / trigger takeover.</a:t>
            </a:r>
            <a:endParaRPr sz="1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Google Shape;20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98900" y="6971969"/>
            <a:ext cx="394335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6"/>
          <p:cNvSpPr/>
          <p:nvPr/>
        </p:nvSpPr>
        <p:spPr>
          <a:xfrm>
            <a:off x="0" y="0"/>
            <a:ext cx="14629800" cy="763200"/>
          </a:xfrm>
          <a:prstGeom prst="rect">
            <a:avLst/>
          </a:prstGeom>
          <a:solidFill>
            <a:srgbClr val="111827"/>
          </a:solidFill>
          <a:ln cap="flat" cmpd="sng" w="203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lt1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50"/>
              <a:buFont typeface="Crimson Pro SemiBold"/>
              <a:buNone/>
            </a:pPr>
            <a:r>
              <a:rPr b="1" lang="en-US" sz="2200">
                <a:solidFill>
                  <a:schemeClr val="lt1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Detailed Method: From Frame to Safe Decision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lt1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/>
          <p:nvPr/>
        </p:nvSpPr>
        <p:spPr>
          <a:xfrm>
            <a:off x="926775" y="1254300"/>
            <a:ext cx="68889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Crimson Pro SemiBold"/>
              <a:buNone/>
            </a:pPr>
            <a:r>
              <a:t/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206650" y="844574"/>
            <a:ext cx="73788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Heebo"/>
              <a:buNone/>
            </a:pPr>
            <a:r>
              <a:rPr lang="en-US" sz="125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Evaluated the safety gate on held-out BDD100K splits to measure detection, calibration, and runtime suitability for AVs.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/>
          <p:nvPr/>
        </p:nvSpPr>
        <p:spPr>
          <a:xfrm>
            <a:off x="206647" y="1540142"/>
            <a:ext cx="4313400" cy="14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Heebo"/>
              <a:buChar char="•"/>
            </a:pPr>
            <a:r>
              <a:rPr lang="en-US" sz="125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Binary In-ODD vs OOD: compare MSP, Energy, MC Dropout, Ensemble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Heebo"/>
              <a:buChar char="•"/>
            </a:pPr>
            <a:r>
              <a:rPr lang="en-US" sz="125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Per-type analysis: Night, Rain, Fog, Construction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Heebo"/>
              <a:buChar char="•"/>
            </a:pPr>
            <a:r>
              <a:rPr lang="en-US" sz="125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Threshold sensitivity: FSR vs. abstention rate trade-offs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Heebo"/>
              <a:buChar char="•"/>
            </a:pPr>
            <a:r>
              <a:rPr lang="en-US" sz="1250">
                <a:solidFill>
                  <a:srgbClr val="000000"/>
                </a:solidFill>
                <a:latin typeface="Heebo"/>
                <a:ea typeface="Heebo"/>
                <a:cs typeface="Heebo"/>
                <a:sym typeface="Heebo"/>
              </a:rPr>
              <a:t>Calibration: reliability diagrams before/after temperature scaling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7"/>
          <p:cNvSpPr/>
          <p:nvPr/>
        </p:nvSpPr>
        <p:spPr>
          <a:xfrm>
            <a:off x="696590" y="4349120"/>
            <a:ext cx="2381700" cy="2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2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50"/>
              <a:buFont typeface="Crimson Pro SemiBold"/>
              <a:buNone/>
            </a:pPr>
            <a:r>
              <a:t/>
            </a:r>
            <a:endParaRPr sz="1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68915" y="7250932"/>
            <a:ext cx="3033305" cy="90852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7"/>
          <p:cNvSpPr txBox="1"/>
          <p:nvPr/>
        </p:nvSpPr>
        <p:spPr>
          <a:xfrm>
            <a:off x="8813100" y="7415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2" name="Google Shape;222;p17"/>
          <p:cNvSpPr/>
          <p:nvPr/>
        </p:nvSpPr>
        <p:spPr>
          <a:xfrm>
            <a:off x="2438400" y="986525"/>
            <a:ext cx="1219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20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8146975" y="113025"/>
            <a:ext cx="9000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Expected Results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8219925" y="965350"/>
            <a:ext cx="6000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94A3B8"/>
                </a:solidFill>
                <a:latin typeface="Heebo"/>
                <a:ea typeface="Heebo"/>
                <a:cs typeface="Heebo"/>
                <a:sym typeface="Heebo"/>
              </a:rPr>
              <a:t>ODD-Aware Safety Gate for Autonomous Vehicles</a:t>
            </a:r>
            <a:endParaRPr/>
          </a:p>
        </p:txBody>
      </p:sp>
      <p:sp>
        <p:nvSpPr>
          <p:cNvPr id="225" name="Google Shape;225;p17"/>
          <p:cNvSpPr/>
          <p:nvPr/>
        </p:nvSpPr>
        <p:spPr>
          <a:xfrm>
            <a:off x="7103925" y="1547448"/>
            <a:ext cx="2912700" cy="342900"/>
          </a:xfrm>
          <a:prstGeom prst="roundRect">
            <a:avLst>
              <a:gd fmla="val 5000" name="adj"/>
            </a:avLst>
          </a:prstGeom>
          <a:solidFill>
            <a:srgbClr val="166534"/>
          </a:solidFill>
          <a:ln>
            <a:noFill/>
          </a:ln>
        </p:spPr>
        <p:txBody>
          <a:bodyPr anchorCtr="0" anchor="ctr" bIns="0" lIns="11430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In-Distribution (In-ODD)</a:t>
            </a:r>
            <a:endParaRPr/>
          </a:p>
        </p:txBody>
      </p:sp>
      <p:sp>
        <p:nvSpPr>
          <p:cNvPr id="226" name="Google Shape;226;p17"/>
          <p:cNvSpPr/>
          <p:nvPr/>
        </p:nvSpPr>
        <p:spPr>
          <a:xfrm flipH="1">
            <a:off x="10867175" y="1518800"/>
            <a:ext cx="2808300" cy="400200"/>
          </a:xfrm>
          <a:prstGeom prst="roundRect">
            <a:avLst>
              <a:gd fmla="val 5000" name="adj"/>
            </a:avLst>
          </a:prstGeom>
          <a:solidFill>
            <a:srgbClr val="991B1B"/>
          </a:solidFill>
          <a:ln>
            <a:noFill/>
          </a:ln>
        </p:spPr>
        <p:txBody>
          <a:bodyPr anchorCtr="0" anchor="ctr" bIns="0" lIns="11430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Out-of-Distribution (OOD)</a:t>
            </a:r>
            <a:endParaRPr/>
          </a:p>
        </p:txBody>
      </p:sp>
      <p:pic>
        <p:nvPicPr>
          <p:cNvPr id="227" name="Google Shape;227;p17"/>
          <p:cNvPicPr preferRelativeResize="0"/>
          <p:nvPr/>
        </p:nvPicPr>
        <p:blipFill rotWithShape="1">
          <a:blip r:embed="rId4">
            <a:alphaModFix/>
          </a:blip>
          <a:srcRect b="14362" l="0" r="20363" t="0"/>
          <a:stretch/>
        </p:blipFill>
        <p:spPr>
          <a:xfrm>
            <a:off x="7103925" y="2144100"/>
            <a:ext cx="2912700" cy="1761900"/>
          </a:xfrm>
          <a:prstGeom prst="roundRect">
            <a:avLst>
              <a:gd fmla="val 3000" name="adj"/>
            </a:avLst>
          </a:prstGeom>
          <a:noFill/>
          <a:ln>
            <a:noFill/>
          </a:ln>
        </p:spPr>
      </p:pic>
      <p:pic>
        <p:nvPicPr>
          <p:cNvPr id="228" name="Google Shape;22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818175" y="2186547"/>
            <a:ext cx="2912700" cy="1638300"/>
          </a:xfrm>
          <a:prstGeom prst="roundRect">
            <a:avLst>
              <a:gd fmla="val 3000" name="adj"/>
            </a:avLst>
          </a:prstGeom>
          <a:noFill/>
          <a:ln>
            <a:noFill/>
          </a:ln>
        </p:spPr>
      </p:pic>
      <p:sp>
        <p:nvSpPr>
          <p:cNvPr id="229" name="Google Shape;229;p17"/>
          <p:cNvSpPr/>
          <p:nvPr/>
        </p:nvSpPr>
        <p:spPr>
          <a:xfrm>
            <a:off x="7043150" y="4243800"/>
            <a:ext cx="3252900" cy="297600"/>
          </a:xfrm>
          <a:prstGeom prst="rect">
            <a:avLst/>
          </a:prstGeom>
          <a:solidFill>
            <a:srgbClr val="F0FDF4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1430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6534"/>
                </a:solidFill>
                <a:latin typeface="Heebo"/>
                <a:ea typeface="Heebo"/>
                <a:cs typeface="Heebo"/>
                <a:sym typeface="Heebo"/>
              </a:rPr>
              <a:t>Clear Day  Score &lt; threshold  PROCEED</a:t>
            </a:r>
            <a:endParaRPr/>
          </a:p>
        </p:txBody>
      </p:sp>
      <p:sp>
        <p:nvSpPr>
          <p:cNvPr id="230" name="Google Shape;230;p17"/>
          <p:cNvSpPr/>
          <p:nvPr/>
        </p:nvSpPr>
        <p:spPr>
          <a:xfrm>
            <a:off x="10818175" y="4249650"/>
            <a:ext cx="3401700" cy="285900"/>
          </a:xfrm>
          <a:prstGeom prst="rect">
            <a:avLst/>
          </a:prstGeom>
          <a:solidFill>
            <a:srgbClr val="FFF1F2"/>
          </a:solidFill>
          <a:ln cap="flat" cmpd="sng" w="12700">
            <a:solidFill>
              <a:srgbClr val="991B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11430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1B1B"/>
                </a:solidFill>
                <a:latin typeface="Heebo"/>
                <a:ea typeface="Heebo"/>
                <a:cs typeface="Heebo"/>
                <a:sym typeface="Heebo"/>
              </a:rPr>
              <a:t>Fog / Night  Score &gt; threshold  ABSTAIN</a:t>
            </a:r>
            <a:endParaRPr/>
          </a:p>
        </p:txBody>
      </p:sp>
      <p:pic>
        <p:nvPicPr>
          <p:cNvPr id="231" name="Google Shape;23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43150" y="4798850"/>
            <a:ext cx="3252900" cy="2032800"/>
          </a:xfrm>
          <a:prstGeom prst="roundRect">
            <a:avLst>
              <a:gd fmla="val 2000" name="adj"/>
            </a:avLst>
          </a:prstGeom>
          <a:noFill/>
          <a:ln>
            <a:noFill/>
          </a:ln>
        </p:spPr>
      </p:pic>
      <p:pic>
        <p:nvPicPr>
          <p:cNvPr id="232" name="Google Shape;232;p17"/>
          <p:cNvPicPr preferRelativeResize="0"/>
          <p:nvPr/>
        </p:nvPicPr>
        <p:blipFill rotWithShape="1">
          <a:blip r:embed="rId7">
            <a:alphaModFix/>
          </a:blip>
          <a:srcRect b="12165" l="0" r="11064" t="0"/>
          <a:stretch/>
        </p:blipFill>
        <p:spPr>
          <a:xfrm>
            <a:off x="10818175" y="4834450"/>
            <a:ext cx="3252900" cy="2007600"/>
          </a:xfrm>
          <a:prstGeom prst="roundRect">
            <a:avLst>
              <a:gd fmla="val 2000" name="adj"/>
            </a:avLst>
          </a:prstGeom>
          <a:noFill/>
          <a:ln>
            <a:noFill/>
          </a:ln>
        </p:spPr>
      </p:pic>
      <p:pic>
        <p:nvPicPr>
          <p:cNvPr id="233" name="Google Shape;23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5365" y="8622307"/>
            <a:ext cx="3033305" cy="908526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7"/>
          <p:cNvSpPr/>
          <p:nvPr/>
        </p:nvSpPr>
        <p:spPr>
          <a:xfrm>
            <a:off x="464550" y="3158825"/>
            <a:ext cx="3963900" cy="4779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9050">
            <a:solidFill>
              <a:srgbClr val="2150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7"/>
          <p:cNvSpPr/>
          <p:nvPr/>
        </p:nvSpPr>
        <p:spPr>
          <a:xfrm>
            <a:off x="579150" y="3287025"/>
            <a:ext cx="3734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Target Metrics</a:t>
            </a:r>
            <a:endParaRPr/>
          </a:p>
        </p:txBody>
      </p:sp>
      <p:sp>
        <p:nvSpPr>
          <p:cNvPr id="236" name="Google Shape;236;p17"/>
          <p:cNvSpPr/>
          <p:nvPr/>
        </p:nvSpPr>
        <p:spPr>
          <a:xfrm>
            <a:off x="579150" y="3764999"/>
            <a:ext cx="3734700" cy="552000"/>
          </a:xfrm>
          <a:prstGeom prst="roundRect">
            <a:avLst>
              <a:gd fmla="val 3000" name="adj"/>
            </a:avLst>
          </a:prstGeom>
          <a:solidFill>
            <a:srgbClr val="EFF6FF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1430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1500" u="none" cap="none" strike="noStrike">
                <a:solidFill>
                  <a:srgbClr val="1D4ED8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AUROC &gt; 0.90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Heebo"/>
                <a:ea typeface="Heebo"/>
                <a:cs typeface="Heebo"/>
                <a:sym typeface="Heebo"/>
              </a:rPr>
              <a:t>Energy score vs. MSP baseline</a:t>
            </a:r>
            <a:endParaRPr sz="1500"/>
          </a:p>
        </p:txBody>
      </p:sp>
      <p:sp>
        <p:nvSpPr>
          <p:cNvPr id="237" name="Google Shape;237;p17"/>
          <p:cNvSpPr/>
          <p:nvPr/>
        </p:nvSpPr>
        <p:spPr>
          <a:xfrm>
            <a:off x="579150" y="4533488"/>
            <a:ext cx="3734700" cy="685800"/>
          </a:xfrm>
          <a:prstGeom prst="roundRect">
            <a:avLst>
              <a:gd fmla="val 3000" name="adj"/>
            </a:avLst>
          </a:prstGeom>
          <a:solidFill>
            <a:srgbClr val="FEF2F2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1430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1500" u="none" cap="none" strike="noStrike">
                <a:solidFill>
                  <a:srgbClr val="DC2626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FSR &lt; 5%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Heebo"/>
                <a:ea typeface="Heebo"/>
                <a:cs typeface="Heebo"/>
                <a:sym typeface="Heebo"/>
              </a:rPr>
              <a:t>False-Safe Rate - primary safety metric</a:t>
            </a:r>
            <a:endParaRPr sz="1500"/>
          </a:p>
        </p:txBody>
      </p:sp>
      <p:sp>
        <p:nvSpPr>
          <p:cNvPr id="238" name="Google Shape;238;p17"/>
          <p:cNvSpPr/>
          <p:nvPr/>
        </p:nvSpPr>
        <p:spPr>
          <a:xfrm>
            <a:off x="579150" y="5495350"/>
            <a:ext cx="3734700" cy="685800"/>
          </a:xfrm>
          <a:prstGeom prst="roundRect">
            <a:avLst>
              <a:gd fmla="val 3000" name="adj"/>
            </a:avLst>
          </a:prstGeom>
          <a:solidFill>
            <a:srgbClr val="F0FDF4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1430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1500" u="none" cap="none" strike="noStrike">
                <a:solidFill>
                  <a:srgbClr val="15803D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ECE &lt; 0.05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Heebo"/>
                <a:ea typeface="Heebo"/>
                <a:cs typeface="Heebo"/>
                <a:sym typeface="Heebo"/>
              </a:rPr>
              <a:t>Calibration after temperature scaling</a:t>
            </a:r>
            <a:endParaRPr sz="1500"/>
          </a:p>
        </p:txBody>
      </p:sp>
      <p:sp>
        <p:nvSpPr>
          <p:cNvPr id="239" name="Google Shape;239;p17"/>
          <p:cNvSpPr/>
          <p:nvPr/>
        </p:nvSpPr>
        <p:spPr>
          <a:xfrm>
            <a:off x="579150" y="6384725"/>
            <a:ext cx="3734700" cy="685800"/>
          </a:xfrm>
          <a:prstGeom prst="roundRect">
            <a:avLst>
              <a:gd fmla="val 3000" name="adj"/>
            </a:avLst>
          </a:prstGeom>
          <a:solidFill>
            <a:srgbClr val="F5F3FF"/>
          </a:solidFill>
          <a:ln cap="flat" cmpd="sng" w="12700">
            <a:solidFill>
              <a:srgbClr val="A78B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1430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1500" u="none" cap="none" strike="noStrike">
                <a:solidFill>
                  <a:srgbClr val="6D28D9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Latency &lt; 10ms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Heebo"/>
                <a:ea typeface="Heebo"/>
                <a:cs typeface="Heebo"/>
                <a:sym typeface="Heebo"/>
              </a:rPr>
              <a:t>Real-time gate inference per frame</a:t>
            </a:r>
            <a:endParaRPr sz="1500"/>
          </a:p>
        </p:txBody>
      </p:sp>
      <p:sp>
        <p:nvSpPr>
          <p:cNvPr id="240" name="Google Shape;240;p17"/>
          <p:cNvSpPr/>
          <p:nvPr/>
        </p:nvSpPr>
        <p:spPr>
          <a:xfrm>
            <a:off x="579150" y="7359500"/>
            <a:ext cx="3734700" cy="457200"/>
          </a:xfrm>
          <a:prstGeom prst="roundRect">
            <a:avLst>
              <a:gd fmla="val 3000" name="adj"/>
            </a:avLst>
          </a:prstGeom>
          <a:solidFill>
            <a:srgbClr val="FFFBEB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11430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500" u="none" cap="none" strike="noStrike">
                <a:solidFill>
                  <a:srgbClr val="92400E"/>
                </a:solidFill>
                <a:latin typeface="Heebo"/>
                <a:ea typeface="Heebo"/>
                <a:cs typeface="Heebo"/>
                <a:sym typeface="Heebo"/>
              </a:rPr>
              <a:t>Energy Score outperforms MSP on fog, night, and rain OOD scenarios</a:t>
            </a:r>
            <a:endParaRPr sz="1500"/>
          </a:p>
        </p:txBody>
      </p:sp>
      <p:sp>
        <p:nvSpPr>
          <p:cNvPr id="241" name="Google Shape;241;p17"/>
          <p:cNvSpPr/>
          <p:nvPr/>
        </p:nvSpPr>
        <p:spPr>
          <a:xfrm>
            <a:off x="0" y="0"/>
            <a:ext cx="14629800" cy="763200"/>
          </a:xfrm>
          <a:prstGeom prst="rect">
            <a:avLst/>
          </a:prstGeom>
          <a:solidFill>
            <a:srgbClr val="111827"/>
          </a:solidFill>
          <a:ln cap="flat" cmpd="sng" w="20325">
            <a:solidFill>
              <a:srgbClr val="11182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9725" lIns="109725" spcFirstLastPara="1" rIns="109725" wrap="square" tIns="109725">
            <a:noAutofit/>
          </a:bodyPr>
          <a:lstStyle/>
          <a:p>
            <a:pPr indent="0" lvl="0" marL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lt1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  <a:p>
            <a:pPr indent="0" lvl="0" marL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lt1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Experiments: Rigorous Evaluation of the Safety Gate                                            Expected Results</a:t>
            </a:r>
            <a:endParaRPr sz="2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lt1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