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dadf0f6a604c56" /><Relationship Type="http://schemas.openxmlformats.org/officeDocument/2006/relationships/extended-properties" Target="/docProps/app.xml" Id="R7ebbc8c742ee4a30" /><Relationship Type="http://schemas.openxmlformats.org/officeDocument/2006/relationships/officeDocument" Target="/ppt/presentation.xml" Id="R467f0499ed2c40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7875668cc74472"/>
  </p:sldMasterIdLst>
  <p:notesMasterIdLst>
    <p:notesMasterId xmlns:r="http://schemas.openxmlformats.org/officeDocument/2006/relationships" r:id="Ra8990071c3dc4eae"/>
  </p:notesMasterIdLst>
  <p:sldIdLst>
    <p:sldId xmlns:r="http://schemas.openxmlformats.org/officeDocument/2006/relationships" id="256" r:id="R8cf8c280bb604221"/>
    <p:sldId xmlns:r="http://schemas.openxmlformats.org/officeDocument/2006/relationships" id="257" r:id="Rec2f31106deb45d9"/>
    <p:sldId xmlns:r="http://schemas.openxmlformats.org/officeDocument/2006/relationships" id="258" r:id="R82cf57acbe9f4bb2"/>
    <p:sldId xmlns:r="http://schemas.openxmlformats.org/officeDocument/2006/relationships" id="259" r:id="Re69e0b6e9fbc4d7e"/>
    <p:sldId xmlns:r="http://schemas.openxmlformats.org/officeDocument/2006/relationships" id="260" r:id="Re223b88662324225"/>
    <p:sldId xmlns:r="http://schemas.openxmlformats.org/officeDocument/2006/relationships" id="261" r:id="R9631c08dfbde427d"/>
    <p:sldId xmlns:r="http://schemas.openxmlformats.org/officeDocument/2006/relationships" id="262" r:id="R2a9012874ceb4201"/>
    <p:sldId xmlns:r="http://schemas.openxmlformats.org/officeDocument/2006/relationships" id="263" r:id="R31335fd781654ce9"/>
    <p:sldId xmlns:r="http://schemas.openxmlformats.org/officeDocument/2006/relationships" id="264" r:id="R0f4635b38c12430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7875668cc74472" /><Relationship Type="http://schemas.openxmlformats.org/officeDocument/2006/relationships/theme" Target="/ppt/theme/theme1.xml" Id="R6d45a623a7ef40b6" /><Relationship Type="http://schemas.openxmlformats.org/officeDocument/2006/relationships/notesMaster" Target="/ppt/notesMasters/notesMaster1.xml" Id="Ra8990071c3dc4eae" /><Relationship Type="http://schemas.openxmlformats.org/officeDocument/2006/relationships/presProps" Target="/ppt/presProps.xml" Id="R0f89e182649a42f9" /><Relationship Type="http://schemas.openxmlformats.org/officeDocument/2006/relationships/viewProps" Target="/ppt/viewProps.xml" Id="Rd3b99747911446e4" /><Relationship Type="http://schemas.openxmlformats.org/officeDocument/2006/relationships/tableStyles" Target="/ppt/tableStyles.xml" Id="R5d9ffacc2e604355" /><Relationship Type="http://schemas.openxmlformats.org/officeDocument/2006/relationships/slide" Target="/ppt/slides/slide1.xml" Id="R8cf8c280bb604221" /><Relationship Type="http://schemas.openxmlformats.org/officeDocument/2006/relationships/slide" Target="/ppt/slides/slide2.xml" Id="Rec2f31106deb45d9" /><Relationship Type="http://schemas.openxmlformats.org/officeDocument/2006/relationships/slide" Target="/ppt/slides/slide3.xml" Id="R82cf57acbe9f4bb2" /><Relationship Type="http://schemas.openxmlformats.org/officeDocument/2006/relationships/slide" Target="/ppt/slides/slide4.xml" Id="Re69e0b6e9fbc4d7e" /><Relationship Type="http://schemas.openxmlformats.org/officeDocument/2006/relationships/slide" Target="/ppt/slides/slide5.xml" Id="Re223b88662324225" /><Relationship Type="http://schemas.openxmlformats.org/officeDocument/2006/relationships/slide" Target="/ppt/slides/slide6.xml" Id="R9631c08dfbde427d" /><Relationship Type="http://schemas.openxmlformats.org/officeDocument/2006/relationships/slide" Target="/ppt/slides/slide7.xml" Id="R2a9012874ceb4201" /><Relationship Type="http://schemas.openxmlformats.org/officeDocument/2006/relationships/slide" Target="/ppt/slides/slide8.xml" Id="R31335fd781654ce9" /><Relationship Type="http://schemas.openxmlformats.org/officeDocument/2006/relationships/slide" Target="/ppt/slides/slide9.xml" Id="R0f4635b38c1243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0a4f8c5ec1246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75684d5b22b4c12" /><Relationship Type="http://schemas.openxmlformats.org/officeDocument/2006/relationships/notesMaster" Target="/ppt/notesMasters/notesMaster1.xml" Id="Rfb83662511ab41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93f61be4114b74" /><Relationship Type="http://schemas.openxmlformats.org/officeDocument/2006/relationships/notesMaster" Target="/ppt/notesMasters/notesMaster1.xml" Id="R2158e7d482c34c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6d6152c2ae4c43" /><Relationship Type="http://schemas.openxmlformats.org/officeDocument/2006/relationships/notesMaster" Target="/ppt/notesMasters/notesMaster1.xml" Id="Rd1260165897041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bc5c123463423e" /><Relationship Type="http://schemas.openxmlformats.org/officeDocument/2006/relationships/notesMaster" Target="/ppt/notesMasters/notesMaster1.xml" Id="R208bcc3effe84c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aaf24971124a52" /><Relationship Type="http://schemas.openxmlformats.org/officeDocument/2006/relationships/notesMaster" Target="/ppt/notesMasters/notesMaster1.xml" Id="Rfa0f109b4c3c4b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01f35c073b7487d" /><Relationship Type="http://schemas.openxmlformats.org/officeDocument/2006/relationships/notesMaster" Target="/ppt/notesMasters/notesMaster1.xml" Id="Rfdc3ffb7a9b64d9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df4e3d15e84060" /><Relationship Type="http://schemas.openxmlformats.org/officeDocument/2006/relationships/notesMaster" Target="/ppt/notesMasters/notesMaster1.xml" Id="Rb2f5c75c7ffb4d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bc0a2bbf41464b" /><Relationship Type="http://schemas.openxmlformats.org/officeDocument/2006/relationships/notesMaster" Target="/ppt/notesMasters/notesMaster1.xml" Id="R2494d62086da4d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e8016bb3da4276" /><Relationship Type="http://schemas.openxmlformats.org/officeDocument/2006/relationships/notesMaster" Target="/ppt/notesMasters/notesMaster1.xml" Id="R3c8f818d9afb4d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slide that synthesizes the strongest findings from all notebooks into three numbers and one deployment-minded recommendation.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/Users/crreddy/Documents/AI_Project/ODD-OOD-Detection-for-Safe-Autonomy.pptx (project framing, goal, and original slide arc)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  <a:p xmlns:a="http://schemas.openxmlformats.org/drawingml/2006/main">
            <a:r>
              <a:t>- /Users/crreddy/Documents/AI_Project/Deep_Ensemble/Deep_Ensemble.ipynb (5-head ensemble on ResNet features, 91.38% validation accuracy on full weather binary split)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slide. The language updates the original slides from generic expected results to a concrete gate decision formulation.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/Users/crreddy/Documents/AI_Project/ODD-OOD-Detection-for-Safe-Autonomy.pptx (project framing, goal, and original slide arc)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slide. It explicitly separates the three evaluation tracks extracted from the notebooks so the final conclusion does not compare unlike splits as if they were identical.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/Users/crreddy/Documents/AI_Project/Deep_Ensemble/Deep_Ensemble.ipynb (5-head ensemble on ResNet features, 91.38% validation accuracy on full weather binary split)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Methods overview slide. Each method family from the notebooks gets one card and one key metric or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  <a:p xmlns:a="http://schemas.openxmlformats.org/drawingml/2006/main">
            <a:r>
              <a:t>- /Users/crreddy/Documents/AI_Project/Deep_Ensemble/Deep_Ensemble.ipynb (5-head ensemble on ResNet features, 91.38% validation accuracy on full weather binary split)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ResNet baseline results slide. This uses the saved comparison plot from the ResNet notebook plus the extracted summary metrics from the final results cell.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Feature-space comparison slide. SVDD is included as an exploratory baseline and explicitly labeled as a different split; Mahalanobis and both CLIP cards share the clear-only ID bank split.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Backbone sweep slide driven by the final training output in VIT_BACKBONE.ipynb. The conclusion is classification-focused rather than reject-option focused.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Recommended final architecture. This slide fuses the best classifier result from the backbone notebook with the best explicit OOD detector result from the CLIP kNN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It translates the notebook review into exactly what the team can claim now and what still needs to be done for a rigorous final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/Users/crreddy/Documents/AI_Project/ResNet50/AI_RESNET.ipynb (ResNet-50 baseline, uncertainty scoring, temperature scaling, saved plots)</a:t>
            </a:r>
          </a:p>
          <a:p xmlns:a="http://schemas.openxmlformats.org/drawingml/2006/main">
            <a:r>
              <a:t>- /Users/crreddy/Documents/AI_Project/Deep_Ensemble/Deep_Ensemble.ipynb (5-head ensemble on ResNet features, 91.38% validation accuracy on full weather binary split)</a:t>
            </a:r>
          </a:p>
          <a:p xmlns:a="http://schemas.openxmlformats.org/drawingml/2006/main">
            <a:r>
              <a:t>- /Users/crreddy/Documents/AI_Project/SVDD/Deep_Ensemble_(2).ipynb (Deep SVDD baseline: AUROC 0.5841, coverage 0.0625 at 5% false-safe)</a:t>
            </a:r>
          </a:p>
          <a:p xmlns:a="http://schemas.openxmlformats.org/drawingml/2006/main">
            <a:r>
              <a:t>- /Users/crreddy/Documents/AI_Project/results of vit/Deep_Ensemble_Mahalanobis.ipynb (Mahalanobis and centroid-distance OOD detection on ResNet features)</a:t>
            </a:r>
          </a:p>
          <a:p xmlns:a="http://schemas.openxmlformats.org/drawingml/2006/main">
            <a:r>
              <a:t>- /Users/crreddy/Documents/AI_Project/Vit+knn/Deep_Ensemble_(1).ipynb (CLIP ViT-B/32 + FAISS kNN: AUROC 0.7412, coverage 0.1904 at 5% false-safe)</a:t>
            </a:r>
          </a:p>
          <a:p xmlns:a="http://schemas.openxmlformats.org/drawingml/2006/main">
            <a:r>
              <a:t>- /Users/crreddy/Documents/AI_Project/vit_l_14/Deep_Ensemble_(1).ipynb (CLIP ViT-L/14 + kNN sweep; best k=5, AUROC 0.7326)</a:t>
            </a:r>
          </a:p>
          <a:p xmlns:a="http://schemas.openxmlformats.org/drawingml/2006/main">
            <a:r>
              <a:t>- /Users/crreddy/Documents/AI_Project/results of vit/VIT_BACKBONE.ipynb (supervised backbone sweep: ConvNeXt-Tiny best val accuracy 0.9368)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c42183451746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BA0CD11E-CEC0-40A7-8492-0EE880BE964D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2CC8088-1096-4730-8E05-A1AE3396334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9259959-E7F2-4D79-B9F5-7B04ABBBC893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2D3F0-6838-40F1-A8D0-BE7B317F326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6b6c4389918492d" /><Relationship Type="http://schemas.openxmlformats.org/officeDocument/2006/relationships/slideLayout" Target="/ppt/slideLayouts/slideLayout2.xml" Id="R42f4b975a2ec44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A0B14E-8175-4D6D-B42E-D642A3475F0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f4b975a2ec44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32b124eea64f15" /><Relationship Type="http://schemas.openxmlformats.org/officeDocument/2006/relationships/notesSlide" Target="/ppt/notesSlides/notesSlide1.xml" Id="R6c95f463a90443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a80216fe124061" /><Relationship Type="http://schemas.openxmlformats.org/officeDocument/2006/relationships/notesSlide" Target="/ppt/notesSlides/notesSlide2.xml" Id="R320004d109d346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1cfa1ee82349c7" /><Relationship Type="http://schemas.openxmlformats.org/officeDocument/2006/relationships/notesSlide" Target="/ppt/notesSlides/notesSlide3.xml" Id="R61372677954249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066abd45024bb6" /><Relationship Type="http://schemas.openxmlformats.org/officeDocument/2006/relationships/notesSlide" Target="/ppt/notesSlides/notesSlide4.xml" Id="Rc2e32f0450034a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b2894491644def" /><Relationship Type="http://schemas.openxmlformats.org/officeDocument/2006/relationships/image" Target="/ppt/media/image.png" Id="Rd47a806008914247" /><Relationship Type="http://schemas.openxmlformats.org/officeDocument/2006/relationships/notesSlide" Target="/ppt/notesSlides/notesSlide5.xml" Id="Reb8811fbed2f41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6c2909fac54dda" /><Relationship Type="http://schemas.openxmlformats.org/officeDocument/2006/relationships/notesSlide" Target="/ppt/notesSlides/notesSlide6.xml" Id="R71a046dd06b245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59984de1cd4fae" /><Relationship Type="http://schemas.openxmlformats.org/officeDocument/2006/relationships/notesSlide" Target="/ppt/notesSlides/notesSlide7.xml" Id="R6ccab633d2ef476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64dd0c18024db2" /><Relationship Type="http://schemas.openxmlformats.org/officeDocument/2006/relationships/notesSlide" Target="/ppt/notesSlides/notesSlide8.xml" Id="R8330ee6103234c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268d46c9f44a7a" /><Relationship Type="http://schemas.openxmlformats.org/officeDocument/2006/relationships/notesSlide" Target="/ppt/notesSlides/notesSlide9.xml" Id="R1cd33d232f5843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DDF09-55D0-49EC-B316-9AF884B8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F5BF5-FCC8-42F6-AB9F-F97B34CD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-1143000"/>
            <a:ext cx="3048000" cy="3048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D9A76-504F-4245-8656-467D65A0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A1A44-EFB7-4E63-AAA2-B91E6260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318B4-6A01-481E-9F2D-C0A1A00B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7E3DA"/>
                </a:solidFill>
              </a:defRPr>
            </a:pPr>
            <a:r>
              <a:rPr sz="900" b="1">
                <a:solidFill>
                  <a:srgbClr val="A7E3DA"/>
                </a:solidFill>
              </a:rPr>
              <a:t>FINAL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DE674-479D-4280-9DAD-CEDDFE8F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590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</a:defRPr>
            </a:pPr>
            <a:r>
              <a:rPr sz="3525" b="1">
                <a:solidFill>
                  <a:srgbClr val="FFFFFF"/>
                </a:solidFill>
              </a:rPr>
              <a:t>ODD + OOD Detection for Safe Autonomy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14444-7606-477F-8707-7595BA7A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</a:defRPr>
            </a:pPr>
            <a:r>
              <a:rPr sz="1425" b="0">
                <a:solidFill>
                  <a:srgbClr val="FFFFFF"/>
                </a:solidFill>
              </a:rPr>
              <a:t>Notebook synthesis and final recommendation for a camera-based safety gate using BDD100K weather shifts.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F2DFA-8115-4A1B-B597-F1ADC656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143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552A1B-2AE6-4FA7-8C11-BB4B71AB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7620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BC3B6-92BB-4A28-9178-E794BB43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8001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156CBD-DC6B-4A92-B6E7-D60611E8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4812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CD90F-43D4-4034-96C7-8B11A74B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What this final deck does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C1A55-7645-47D3-AD4A-FF5E3796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724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Replaces the proposal-style expected results with the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actual notebook evidence.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Separates classifier wins from explicit OOD gate wins.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Keeps the conclusion honest about split differences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across notebooks.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046CEB-00F2-4D5B-9142-7749DE5D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4295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12B"/>
                </a:solidFill>
              </a:defRPr>
            </a:pPr>
            <a:r>
              <a:rPr sz="1800" b="1">
                <a:solidFill>
                  <a:srgbClr val="10212B"/>
                </a:solidFill>
              </a:rPr>
              <a:t>What the notebooks show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B4B7FD-9041-4E4F-A69D-4C43C45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00150"/>
            <a:ext cx="3733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7370D-0723-4C46-8CC2-0E9D58575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200150"/>
            <a:ext cx="373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0CBEA8-7E12-46B2-8D09-8444487F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09700"/>
            <a:ext cx="335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0.9368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CBFE3-2B1D-47F3-8063-346DED54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847850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Best supervised val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9D6A90-F107-4F5E-AEAD-32889F4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19300"/>
            <a:ext cx="3352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ConvNeXt-Tiny backbone sweep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7EF60-D14D-4401-B095-90C7C385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3733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F13C35-2B50-430B-998B-CEA4FB7A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57450"/>
            <a:ext cx="373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CDA22-34A7-4A99-96C7-0E2ED776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67000"/>
            <a:ext cx="335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0.7412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8C3492-491D-416B-9397-2F733710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Best OOD AUROC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78BA9-B3E7-4BDA-A747-2E7B0B0FF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276600"/>
            <a:ext cx="3352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CLIP ViT-B/32 + kNN distance gate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CDE44A-CC68-45D4-8979-8CC9558E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37338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89B610-5FC4-4373-89DE-2F474A3B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14750"/>
            <a:ext cx="3733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588DBC-83D7-4D24-B3E6-EC2A7634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24300"/>
            <a:ext cx="3352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19.0%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67FA1A-8F78-4EC2-9226-2FF15A7D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335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Coverage at 5% false-safe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56ED00-E6D5-4444-90FC-5E19F0DA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33900"/>
            <a:ext cx="3352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Same CLIP kNN split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3CBBE7-4DC9-49A9-93E6-98408ED1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010150"/>
            <a:ext cx="37338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154749-B611-4471-AE59-728658D1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43500"/>
            <a:ext cx="33909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Recommended final direction: present ConvNeXt-Tiny as the best classifier, CLIP + kNN as the best OOD gate, and a shared-split rerun as the next milestone.</a:t>
            </a:r>
          </a:p>
        </p:txBody>
      </p:sp>
    </p:spTree>
    <p:extLst>
      <p:ext uri="{BB962C8B-B14F-4D97-AF65-F5344CB8AC3E}">
        <p14:creationId xmlns:p14="http://schemas.microsoft.com/office/powerpoint/2010/main" val="202702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392F7-2166-4368-B26F-C352592C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90716-088A-4F6E-8F11-1C8F40B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C19248-521C-45F3-A0CD-3323485A9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A2E74-DFE9-4157-AD85-C0DE033B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3A9B9C-B663-4FEE-B707-D1F4BBAB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PROBLEM FRAMING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65EB63-6FEB-480D-B15F-6032A148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02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ADCBE-4D47-4729-8A9C-5CED4E9A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Safety gate objective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FA45C2-FC17-4D8C-A4ED-A0966324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A"/>
                </a:solidFill>
              </a:defRPr>
            </a:pPr>
            <a:r>
              <a:rPr sz="1350" b="0">
                <a:solidFill>
                  <a:srgbClr val="44515A"/>
                </a:solidFill>
              </a:rPr>
              <a:t>Detect when the perception stack is inside the operational design domain, and abstain when weather shifts make camera predictions unreliable.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4F011-3C94-426C-A878-1AB6EE51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334000" cy="31051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DF815-0141-49F6-82B1-26191E1D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762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783D05-DF6E-4CCF-8A9A-119B3D3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895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B30A9-CBC3-4623-879E-816B78BD5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CORE TASK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B974D-2BB4-43B2-B09C-D706A962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91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From frame to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12A5D-1E29-405F-A149-828D246E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49149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Input: one front-camera frame from the perception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stack.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Output: TRUST, SLOW DOWN, or ABSTAIN.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Safety goal: cut false-safe cases where OOD frames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are still trusted.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Deployment goal: keep the gate light enough for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per-frame 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B671C-9D6B-4CC6-BDF7-0F96F418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45DFB2-6B0D-4480-BF88-F1C22AB12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491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Original framing adapted from the initial presentation deck.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1361F0-E7C3-4F44-9143-49A84D76B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00250"/>
            <a:ext cx="4572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1430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5C1395-597C-4116-A972-33763DD7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717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766E"/>
                </a:solidFill>
              </a:defRPr>
            </a:pPr>
            <a:r>
              <a:rPr sz="1500" b="1">
                <a:solidFill>
                  <a:srgbClr val="0F766E"/>
                </a:solidFill>
              </a:rPr>
              <a:t>TRUST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7F0220-F11F-462E-83FE-3AD1980B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Classifier is confident and the OOD score stays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below threshold.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DEE9E-AC08-4D80-956B-DC50B147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05150"/>
            <a:ext cx="4572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11430">
            <a:solidFill>
              <a:srgbClr val="D9770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621389-1067-4796-B5B7-43A829F7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766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7706"/>
                </a:solidFill>
              </a:defRPr>
            </a:pPr>
            <a:r>
              <a:rPr sz="1500" b="1">
                <a:solidFill>
                  <a:srgbClr val="D97706"/>
                </a:solidFill>
              </a:rPr>
              <a:t>SLOW DOWN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7D87F6-BBC0-4631-8624-4B578F61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Prediction is usable, but the margin is narrow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and the OOD score is near threshold.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37D32A-26CD-4A4E-A4E9-BB05B66A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10050"/>
            <a:ext cx="4572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BE4DF"/>
          </a:solidFill>
          <a:ln xmlns:a="http://schemas.openxmlformats.org/drawingml/2006/main" w="11430">
            <a:solidFill>
              <a:srgbClr val="C94E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12D913-C12B-43E3-9A70-9CE07AA9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381500"/>
            <a:ext cx="4152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4E38"/>
                </a:solidFill>
              </a:defRPr>
            </a:pPr>
            <a:r>
              <a:rPr sz="1500" b="1">
                <a:solidFill>
                  <a:srgbClr val="C94E38"/>
                </a:solidFill>
              </a:rPr>
              <a:t>ABSTAIN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68829-BC70-4D06-9172-F79F3814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67250"/>
            <a:ext cx="4152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Reject the frame when the representation looks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out-of-domain or uncertainty spikes.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41DB5E-FE79-4EC0-91BB-5030C0C7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706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970DF5-790D-4E8F-B4D7-7A8C34A6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1036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Primary evaluation metrics across the notebooks: AUROC, AUPR, FPR@95TPR, ECE, false-safe rate, and coverage.</a:t>
            </a:r>
          </a:p>
        </p:txBody>
      </p:sp>
    </p:spTree>
    <p:extLst>
      <p:ext uri="{BB962C8B-B14F-4D97-AF65-F5344CB8AC3E}">
        <p14:creationId xmlns:p14="http://schemas.microsoft.com/office/powerpoint/2010/main" val="14895045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51B2C-0E23-4FD8-99F0-21F57423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4C954-7996-415A-8C8E-FE7A0A7B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5D2FA-5C68-4EC0-9CE9-8A6677E1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C97105-A494-43DA-B32B-EEA19AB9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3B4A0-CA11-4E11-B15F-2DAB9F522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DATA AND 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9EC7DD-22E1-46BB-999D-DBCC95EF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03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1305C-A3CB-4C60-837B-B309E55F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Dataset definition and experimental tracks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CE24D0-5321-41ED-B66E-2E30ACE7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A"/>
                </a:solidFill>
              </a:defRPr>
            </a:pPr>
            <a:r>
              <a:rPr sz="1350" b="0">
                <a:solidFill>
                  <a:srgbClr val="44515A"/>
                </a:solidFill>
              </a:rPr>
              <a:t>The notebooks are related, but they do not all use the same split. The final story must respect that difference.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4FFDB-BB16-4F47-BDF7-A00267E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BE4DF"/>
          </a:solidFill>
          <a:ln xmlns:a="http://schemas.openxmlformats.org/drawingml/2006/main" w="10478">
            <a:solidFill>
              <a:srgbClr val="C94E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EF747-3659-4EDE-A44C-4BDF3BB2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10629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E38"/>
                </a:solidFill>
              </a:defRPr>
            </a:pPr>
            <a:r>
              <a:rPr sz="1200" b="1">
                <a:solidFill>
                  <a:srgbClr val="C94E38"/>
                </a:solidFill>
              </a:rPr>
              <a:t>Important caveat: the numbers are directionally useful, but not every method was evaluated on the same train/val protocol.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214A4-F258-421C-8554-A73999B5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33718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281AF5-D5E7-4747-BE37-0D0A41A5A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76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C54751-24C8-43D6-AF60-CADE5E1D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781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D3EF0-56FF-4252-B237-D7AA9136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193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TRACK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950ED-9648-410D-BAEB-15D5AC19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Curated binary split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E2E86-21A0-4FA9-9922-14004FDF4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ResNet baseline plus backbone sweep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B17734-9F31-4DEA-8E27-5315E919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5760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Train: 16,000 frames (10,000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ID / 6,000 OOD).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Val: 3,988 frames (2,500 ID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/ 1,488 OOD).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OOD buckets: rain and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fog/snow.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Bucketed corpus in the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backbone notebook totals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70,587 images.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5C1F0D-59E2-4B87-99BF-2E61E6D9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81600"/>
            <a:ext cx="299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0E217-7D4B-4402-BE39-D25766B9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Used by AI_RESNET.ipynb and VIT_BACKBONE.ipynb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FA0FF1-A76F-48F2-9AE4-03155AD7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00300"/>
            <a:ext cx="33718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52D31-9EA9-4395-A969-53427B0F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00300"/>
            <a:ext cx="76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FAC131-7E82-477A-BF3D-A38C80F55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71750"/>
            <a:ext cx="781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50F723-2B53-41DE-A938-39936FB1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6193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TRACK 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55A28-EDFB-4C67-8273-8695B879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ID-only reference bank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FA6FEE-6C0A-42F2-BE7A-84EAA49F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257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CLIP + kNN and Mahalanobis detectors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2A568C-F886-4E54-8853-5667D59B9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5760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Train ID bank: 37,344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clear-weather frames.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Validation: 5,346 ID and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1,520 OOD frames.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OOD weather in val: rainy,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snowy, foggy.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Goal: measure distance from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 clean in-domain feature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bank.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B80224-BD9B-4E85-9E8E-D1F499BC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181600"/>
            <a:ext cx="299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5BB877-ADF9-4B9C-B154-AC4E6932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863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Used by Vit+knn, vit_l_14, and Deep_Ensemble_Mahalanobis notebooks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E775AB-963E-4120-A121-A88A44C6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371850" cy="3181350"/>
          </a:xfrm>
          <a:prstGeom xmlns:a="http://schemas.openxmlformats.org/drawingml/2006/main" prst="roundRect">
            <a:avLst>
              <a:gd name="adj" fmla="val 239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99FEB1-C524-4CC5-828C-04AE211C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762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4FFFEF-6D11-4EA2-BC8E-2C40D96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71750"/>
            <a:ext cx="7810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C94E3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60CBF5-2ACB-4E5E-85D5-34A6BB79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19375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TRACK 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2016415-1ECB-4081-B8FE-36700977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91465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Full weather binary map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4F2DA2-08F9-4F66-A967-B7861AA12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5755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4E38"/>
                </a:solidFill>
              </a:defRPr>
            </a:pPr>
            <a:r>
              <a:rPr sz="975" b="1">
                <a:solidFill>
                  <a:srgbClr val="C94E38"/>
                </a:solidFill>
              </a:rPr>
              <a:t>Exploratory ensemble and SVDD baselines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5D1B5E-2973-42BC-A501-18168130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57600"/>
            <a:ext cx="2952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Train: 61,744 frames.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Validation: 8,843 frames.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ID mapping: clear, partly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cloudy, overcast.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OOD mapping: rainy, snowy,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foggy.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D28C1C-09FB-4A78-AC5D-A0C57D80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181600"/>
            <a:ext cx="2990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813DD6-576A-4C2D-82A9-6C68FB9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863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Used by Deep_Ensemble.ipynb and SVDD/Deep_Ensemble_(2).ipynb</a:t>
            </a:r>
          </a:p>
        </p:txBody>
      </p:sp>
    </p:spTree>
    <p:extLst>
      <p:ext uri="{BB962C8B-B14F-4D97-AF65-F5344CB8AC3E}">
        <p14:creationId xmlns:p14="http://schemas.microsoft.com/office/powerpoint/2010/main" val="5154868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6298D3-ECB6-4CDA-A24F-CE02AC82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356328-2036-473D-9B6F-AB729DA0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25A2E7-16CB-4157-B00F-A480B5FA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5426BA-437C-4CE5-9388-1BDEEEEE3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7E5C13-F4C2-454D-BAD6-4650FB9F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091"/>
                </a:solidFill>
              </a:defRPr>
            </a:pPr>
            <a:r>
              <a:rPr sz="900" b="1">
                <a:solidFill>
                  <a:srgbClr val="1E6091"/>
                </a:solidFill>
              </a:rPr>
              <a:t>METHODS EXPLORED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E69FE-B19A-48CD-914E-588603E3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6091"/>
                </a:solidFill>
              </a:defRPr>
            </a:pPr>
            <a:r>
              <a:rPr sz="900" b="1">
                <a:solidFill>
                  <a:srgbClr val="1E6091"/>
                </a:solidFill>
              </a:rPr>
              <a:t>04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AE656-DD94-4DF5-8770-0D99177B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Methods tried across the notebooks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66646-DFD8-4BA0-A7AC-839BDA85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A"/>
                </a:solidFill>
              </a:defRPr>
            </a:pPr>
            <a:r>
              <a:rPr sz="1350" b="0">
                <a:solidFill>
                  <a:srgbClr val="44515A"/>
                </a:solidFill>
              </a:rPr>
              <a:t>We tested both supervised classifiers and explicit OOD rejectors, then checked which ideas were strong enough to carry into a final recommendation.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F0F16-7410-40F4-9637-C8D95093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4E5A57-CE2F-446B-9424-AC080450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F06497-465D-4C1D-B328-DC7FE0F4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8001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69DC6-8FD8-43CF-8157-FFCE5047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RESNET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7C83C-7290-418A-A526-9803EBDE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098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ResNet-50 + MLP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56279-939E-4AD9-976E-C6F676F8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Frozen ImageNet features with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 binary head.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Main baseline for calibration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and uncertainty scoring.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468D74-0A13-4B7F-8068-F528D780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67DAC-912D-40DC-9F32-FB7EF60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2482E-4A4E-4356-BDC1-B39BF9D1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1066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31AAA0-5A7B-4FD3-9C03-13FADFD7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14575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UNCERTAINTY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85E7FD-1721-48C9-9E0A-6EF0F8B9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6098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Confidence scores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A5859E-3249-41E3-9B2D-9B31EBEF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527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MSP, energy, MC dropout, and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ensemble entropy.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Best AUROC was still only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0.5263.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28DF36-94D7-402D-B465-81E18AAD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88B0F2-457E-4001-8B95-9ABD6A10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71E28E-E887-4998-A701-DE01252A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876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C94E3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79DFFB-12DB-4E09-ACA1-13CFF04C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14575"/>
            <a:ext cx="685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ENSEMBLE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C1ED49-4B95-45BA-8376-E7799251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098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Deep ensemble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5568F6-26F6-48C4-AA18-3F92DAA7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Five MLP heads on cached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ResNet features.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- 91.38% validation accuracy 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the full-weather split.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62DB2D-81B0-41AF-AAC8-D8E57CC2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30FC5-EF0A-4528-955A-5D792613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D25DF8-2D60-499A-A823-C18364539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9334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844DAD-FD54-4801-86CF-0770327A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ONE-CLASS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939A98-A08F-4EAD-9D9C-F2B78D4C6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SVDD + Mahalanobis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F22C5B-BD94-4BBF-B191-443C689D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One-class and distance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baselines around the ID feature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cloud.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Mahalanobis beat SVDD, but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both trailed CLIP + kNN.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A707ED-89A4-4A99-A129-D73A62D3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8EF28-5ACF-4253-86FC-9C6A823A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428DF5-3B33-47D9-9C4E-87F83FFD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86250"/>
            <a:ext cx="666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B7F153B-1060-4213-BD0E-CA116798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33875"/>
            <a:ext cx="476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CLIP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3AB175-F52C-47BC-8B9F-3AEAED4F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CLIP + kNN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F14774-9734-45D6-8F0C-34113E4B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Distance-to-ID in CLIP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embedding space.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Strongest OOD detector family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in the notebooks.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6C9B98-3E94-4C78-B90F-618FC575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33528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D251D3-81B6-4593-AB1B-3F36339F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14800"/>
            <a:ext cx="76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422493-DED8-4B31-9366-DBCFE284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86250"/>
            <a:ext cx="10287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1838DB-F34D-461B-9245-EE55E5B1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338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BACKBONES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33599C-3C9B-477A-B7C9-3BCE70FF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29150"/>
            <a:ext cx="2933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Backbone sweep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023981-5E80-4CF7-BE21-D377C346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72050"/>
            <a:ext cx="29337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ResNet50, EfficientNet-B3,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ConvNeXt-Tiny, and CLIP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ViT-B/16.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ConvNeXt-Tiny was best at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0.9368 validation accuracy.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29DC35E-C4F9-46DB-B3B3-1A8FA11B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72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EFEA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00298ED-0406-48E7-BFFC-749DE566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67450"/>
            <a:ext cx="10629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Pattern across the notebooks: representation quality plus distance-based rejection worked better than confidence scores alone.</a:t>
            </a:r>
          </a:p>
        </p:txBody>
      </p:sp>
    </p:spTree>
    <p:extLst>
      <p:ext uri="{BB962C8B-B14F-4D97-AF65-F5344CB8AC3E}">
        <p14:creationId xmlns:p14="http://schemas.microsoft.com/office/powerpoint/2010/main" val="9767418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DB715-2783-4881-91BA-4526FCE6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B80F0-B5AB-42C3-AB28-16E06872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783D7-2CE6-431B-9929-D38977C1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C042C-E4B6-4419-B67E-6F9521B6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1B56B-BE2E-43B3-81BA-D1738F9D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BASELINE FINDINGS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1253E-B8B9-48AA-972A-6E6EC05C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05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36794A-261D-49F7-B5BC-B34AFAA6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ResNet baseline: calibrated, but weak at OOD separation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74114-510C-4515-95B2-238B201A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A"/>
                </a:solidFill>
              </a:defRPr>
            </a:pPr>
            <a:r>
              <a:rPr sz="1350" b="0">
                <a:solidFill>
                  <a:srgbClr val="44515A"/>
                </a:solidFill>
              </a:rPr>
              <a:t>The frozen ResNet-50 classifier learns the task, yet its uncertainty scores still overlap too heavily between ID and OOD.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4B9C75-7AFC-403F-9425-98484B57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E517C-194D-4173-8595-CF9DED1F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3246A-FC49-4669-8322-345E29E4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0.8415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E4310-5390-455B-B074-1397AE66D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622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Best val accuracy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49E32-F653-4796-842A-BC9BD645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Curated binary split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4CEEC-3704-4933-922B-424BB81C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29D1C-EAEB-44CD-A15E-71B1A7D6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145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DD63F7-3D27-42D4-AC9B-39567970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241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0.5263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D2E803-C12E-4D54-A9BE-74BF5CBD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622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Best OOD AUROC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535DD-6436-4443-8EFD-6CE91A46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Ensemble entropy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23D22-B493-4CB0-95B1-41DCE7B6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6EFC3-4EDF-4376-AECB-2C0BF6F3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AA0B56-FE92-4F72-954E-806AC859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0.0161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E7EC11-48E6-4B15-8A7B-08723070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ECE after scaling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AEB843-1D05-4DD9-9B82-72B2A9DD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From 0.1037 before T-scaling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76C77D-9003-45DA-8637-6A5949269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2266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7DB48F-2AB3-44E9-9D96-89763046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BD888-FFF3-4446-AD64-C74833F7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43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97.6%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463CC6-99C9-4EA0-AEE3-C93E6146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81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Abstain rate at 5% FS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52B19-8B23-45DB-9014-FEDC4F5E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11480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Energy gate on curated split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59BED0-89AD-4E99-9282-260929FC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7053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4F0F8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9B26CE-F6DC-4B9B-AC30-EC30F983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3624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Calibration improved a lot, but OOD separation stayed weak and the gate had to abstain on almost every validation frame to hit the false-safe target.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6AA78F-DD47-49CF-85A0-E9F36436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95500"/>
            <a:ext cx="5943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DEC302B-2042-44F8-8D90-299BED29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47900"/>
            <a:ext cx="5562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ResNet uncertainty method comparison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7a806008914247"/>
          <a:stretch xmlns:a="http://schemas.openxmlformats.org/drawingml/2006/main"/>
        </p:blipFill>
        <p:spPr>
          <a:xfrm xmlns:a="http://schemas.openxmlformats.org/drawingml/2006/main">
            <a:off x="5772150" y="3236636"/>
            <a:ext cx="5676900" cy="209922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8019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1FA74A-4F86-4FE1-8423-997F87D9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BB3C6-73EF-4A0E-84E1-5646A1D5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C9109-62A2-4B03-A1D1-A7701CF3C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EA7A1-87BF-4BA7-ACCC-F264E5AB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5C007B-844F-4AD8-92F7-EA1D5166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OOD DETECTOR RESULTS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64ADD-414E-4921-9D45-C67773A6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D97706"/>
                </a:solidFill>
              </a:defRPr>
            </a:pPr>
            <a:r>
              <a:rPr sz="900" b="1">
                <a:solidFill>
                  <a:srgbClr val="D97706"/>
                </a:solidFill>
              </a:rPr>
              <a:t>06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C02A33-E738-42A9-A439-08B87925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Feature-space OOD detectors worked better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CF2CF-BDE9-412B-92B1-87D69967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A"/>
                </a:solidFill>
              </a:defRPr>
            </a:pPr>
            <a:r>
              <a:rPr sz="1350" b="0">
                <a:solidFill>
                  <a:srgbClr val="44515A"/>
                </a:solidFill>
              </a:rPr>
              <a:t>Distance from an in-domain feature bank was much more useful than raw confidence. CLIP + kNN was the strongest explicit rejector in the notebooks.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20FCB9-786D-4681-9BA8-33DABFEDD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36D34-CCC4-4934-9FFE-9BF6984D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581DE-E1C8-43DB-8B77-7177F3E2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10477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C94E3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398374-E6F4-452F-9E0D-9F5CF37D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33625"/>
            <a:ext cx="857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EXPLORATORY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96A6C-0B1E-4E41-AA52-34C418A7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Deep SVDD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4354C-C499-4B91-810A-2823B596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71800"/>
            <a:ext cx="472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4E38"/>
                </a:solidFill>
              </a:defRPr>
            </a:pPr>
            <a:r>
              <a:rPr sz="975" b="1">
                <a:solidFill>
                  <a:srgbClr val="C94E38"/>
                </a:solidFill>
              </a:rPr>
              <a:t>Full weather binary split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712D2-408E-465D-B8B0-4ED5C89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72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987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AUROC 0.5841 | Cov@5%FS 0.0625.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Rejected OOD, but over-abstained on ID.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65637-27AF-4B46-99C0-4C6F522C1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DBF6EE-751E-44EE-A788-FF5ADFCC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145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E1E776-A4CC-41E7-835D-BEC7013D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86000"/>
            <a:ext cx="9715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5DE2C-20E8-4B3D-9795-8BB417D7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33625"/>
            <a:ext cx="7810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SAME SPLIT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576AB-AE96-4D76-BA11-1F25D3EA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289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Mahalanobis distance on ResNet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14E3A-3B97-464A-A9D2-C040E11A6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71800"/>
            <a:ext cx="472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6091"/>
                </a:solidFill>
              </a:defRPr>
            </a:pPr>
            <a:r>
              <a:rPr sz="975" b="1">
                <a:solidFill>
                  <a:srgbClr val="1E6091"/>
                </a:solidFill>
              </a:rPr>
              <a:t>Clear-only ID bank split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1E438F-9014-4D26-9E59-FA9B71BD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71850"/>
            <a:ext cx="472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39916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AUROC 0.6525 | FPR95 0.8315.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Best ResNet feature baseline, still below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CLIP.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C4FF13-7B70-47FE-91B9-B1DA415F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D4E305-57A8-444A-ABD0-97141EA6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4304C5-71B1-41EC-8748-E1CB4B33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287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B00F68-DD18-4168-8F43-D5AB56B8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0052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BEST AUROC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C4F452-4108-4377-8C59-8C069CF0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958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CLIP ViT-B/32 + kNN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421C95-D987-4F99-9C7A-37E6B455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472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Clear-only ID bank split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33832A-69CE-46FB-BF57-481560C8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38750"/>
            <a:ext cx="472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987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AUROC 0.7412 | AUPR 0.4366.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Best explicit OOD gate in the notebooks.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695290-E969-4DC6-9818-B41DB738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5143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E61F5-6331-49A7-AB73-DD664969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762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95034B-8129-4762-A90D-8CCDC5D0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52900"/>
            <a:ext cx="12573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003EA7-8DC7-4EEA-A54D-73807ADF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00525"/>
            <a:ext cx="1066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SIMILAR COVERAGE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298F154-1DC8-4B9C-89F3-0BD4C04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95800"/>
            <a:ext cx="4724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CLIP ViT-L/14 + k=5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3FBC31-0173-44BF-A2C5-2C58A21C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38700"/>
            <a:ext cx="4724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97706"/>
                </a:solidFill>
              </a:defRPr>
            </a:pPr>
            <a:r>
              <a:rPr sz="975" b="1">
                <a:solidFill>
                  <a:srgbClr val="D97706"/>
                </a:solidFill>
              </a:rPr>
              <a:t>Clear-only ID bank split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1D83FD-5AFE-4FB1-B068-13C3AF0F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38750"/>
            <a:ext cx="472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59873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AUROC 0.7326 | Cov@5%FS 0.1936.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Near-tie with a heavier model.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D1B999-CCA0-4674-839B-9A02C29D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DD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D8FCE92-C623-4B0E-913B-358FEA2A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76950"/>
            <a:ext cx="1062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Recommendation for the OOD gate: CLIP + kNN. ViT-B/32 has the highest AUROC/AUPR, while ViT-L/14 is similar but heavier.</a:t>
            </a:r>
          </a:p>
        </p:txBody>
      </p:sp>
    </p:spTree>
    <p:extLst>
      <p:ext uri="{BB962C8B-B14F-4D97-AF65-F5344CB8AC3E}">
        <p14:creationId xmlns:p14="http://schemas.microsoft.com/office/powerpoint/2010/main" val="1037668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A660F-385F-4B78-B4EA-C353D98E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5C32A-2D66-4237-89B2-209CE48D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4AB37-E5AF-49F5-8CF0-682CB7A8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D87BFB-9002-4402-AF5D-3E33B195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2F101D-75BC-4177-BCED-4B93B1FD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6091"/>
                </a:solidFill>
              </a:defRPr>
            </a:pPr>
            <a:r>
              <a:rPr sz="900" b="1">
                <a:solidFill>
                  <a:srgbClr val="1E6091"/>
                </a:solidFill>
              </a:rPr>
              <a:t>BACKBONE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C5D87-4A4E-4271-8127-E8E2AFEF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E6091"/>
                </a:solidFill>
              </a:defRPr>
            </a:pPr>
            <a:r>
              <a:rPr sz="900" b="1">
                <a:solidFill>
                  <a:srgbClr val="1E6091"/>
                </a:solidFill>
              </a:rPr>
              <a:t>07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312AC-FDA1-4756-AB19-CEFD1D47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Supervised backbone comparison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B165A-08BC-493A-AEB8-DAD8DFBD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A"/>
                </a:solidFill>
              </a:defRPr>
            </a:pPr>
            <a:r>
              <a:rPr sz="1350" b="0">
                <a:solidFill>
                  <a:srgbClr val="44515A"/>
                </a:solidFill>
              </a:rPr>
              <a:t>When the task is framed as binary in-ODD vs OOD classification, stronger backbones improved validation accuracy noticeably.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ABB19-2F9E-421A-8BA1-CE00A07F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4F0F8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C6F2E9-7983-4AA5-84AA-0433FEC5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629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Bucketed corpus in the backbone notebook: 70,587 total images across in_odd, rain, and fog_snow buckets.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A7058-F7E6-4406-A4BB-8D0ECB1C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1EB26-0B7B-4ABD-BE69-89381BA2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14600"/>
            <a:ext cx="487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92BFA-4792-4D4A-A17A-F74F033AA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0.9368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A8E95D-83CC-4CA2-939D-728C07E0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449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ConvNeXt-Tiny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9E9F6-7F3A-4FB4-9491-A8C01C94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Best val accuracy in backbone sweep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B82EA-5673-486F-9765-F43C8096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1A9E09-9CE1-4489-A1B2-19656B9F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87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9DA0AD-B142-404A-B458-590C159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2415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0.9359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6BC04C-8034-4494-A8FC-AA0E04F0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162300"/>
            <a:ext cx="449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CLIP ViT-B/16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F4B974-C3D5-493B-9278-3E05F49B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79095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Very close second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4F7624-F870-4484-A424-30111F7C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C26159-207D-408B-BC2F-8D0760E1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487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FAEC0-8C39-4737-800C-8B266445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3390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0.9253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0B3AF1-C19A-42F3-BAC2-A15824FA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449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ResNet-50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69C211-E850-4C06-857F-1C1561D6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0070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Strong baseline, but not the top classifier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2E80CF-32FB-46B3-BAAD-C0F4EDBC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48768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245F16-CE4E-42D3-AD94-DCC16837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24350"/>
            <a:ext cx="48768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DA92A-FB0D-4B99-A8B8-85E2710A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33900"/>
            <a:ext cx="4495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0.8975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C69FFB-1077-4C94-BC28-D098F2EF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972050"/>
            <a:ext cx="4495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EfficientNet-B3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0018EE-1AD4-4DF6-A578-78F0C4E0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600700"/>
            <a:ext cx="449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7A81"/>
                </a:solidFill>
              </a:defRPr>
            </a:pPr>
            <a:r>
              <a:rPr sz="750" b="0">
                <a:solidFill>
                  <a:srgbClr val="6F7A81"/>
                </a:solidFill>
              </a:rPr>
              <a:t>Lowest validation accuracy in this sweep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3FE19A-4239-42E6-A4A1-0923D04C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9728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288008-5B56-4499-A228-9959DE59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29350"/>
            <a:ext cx="1062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Takeaway: ConvNeXt-Tiny is the strongest classifier, but this notebook did not report the same reject-option metrics as the CLIP + kNN notebooks.</a:t>
            </a:r>
          </a:p>
        </p:txBody>
      </p:sp>
    </p:spTree>
    <p:extLst>
      <p:ext uri="{BB962C8B-B14F-4D97-AF65-F5344CB8AC3E}">
        <p14:creationId xmlns:p14="http://schemas.microsoft.com/office/powerpoint/2010/main" val="18201364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4834F-C9AB-4A6A-8224-1EF2DC32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BB4581-978D-42B9-916F-84ECD6E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1C7267-CCD7-4DD6-86FB-FB2C0CD0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A9FCA7-BA19-4CA7-A733-107321F5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7A2B6-5AAD-41AE-9695-98CCF57C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FINAL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EF36D-012B-4E64-BFDF-1EB55E3B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08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29FE5-C8A7-4758-82C4-5BDF69E2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Recommended final pipeline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B02FD-FA2D-4D6D-9B9A-A22A69E2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A"/>
                </a:solidFill>
              </a:defRPr>
            </a:pPr>
            <a:r>
              <a:rPr sz="1350" b="0">
                <a:solidFill>
                  <a:srgbClr val="44515A"/>
                </a:solidFill>
              </a:rPr>
              <a:t>Use the best classifier for in-domain recognition and a distance-based rejector for the safety decision. The hybrid story matches what the notebooks actually support.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E90601-76A7-4A12-B901-E0849F27B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7EB8C-376A-4EB2-B06A-432F5510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CLASSIFIER PATH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D024D-5AE3-4772-A4FC-D844A7B4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8953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BA377-A47E-4EE8-908E-9AC8AC9A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9525"/>
            <a:ext cx="704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OOD PATH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707F5-78FD-4046-8847-A93FB59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562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8FDA94-A604-486C-83AC-419EC39A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48C0E-2679-4799-BACB-1FB30493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Frame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F93FD2-774C-435C-B4E7-C53B9F8F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Camera frame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enters both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paths.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1700E1-4791-4067-9EA2-C9028488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8127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62964C-5E8E-4822-83E4-74F9BF045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DE864E-D34A-4170-8779-291191A5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5740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3CD29-4E3B-4D4E-AE88-E24EC6B6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2288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ConvNeXt-Tiny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9DBFEB-216A-4624-A7E5-56E03C6C2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71750"/>
            <a:ext cx="1943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Best classifier in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the sweep. Outputs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an ID/OOD score.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2A365-7C7A-4591-B68E-D6B81AFE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8127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1E609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521C4E-E8B7-43D2-9261-98B8E3DC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20383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36648B-A9CA-44EE-A97D-BA677F34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574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746527-8A37-451A-B66D-8ADF0829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288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Temperature scaling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73CB6D-D0BA-427B-A2A3-208A644B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7175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Calibrate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confidence before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final gate logic.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07A070-698E-4807-99B5-7504F762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562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2DCDE9-4135-466A-A0EC-97D847DA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562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8C1F63-8650-4D32-86C1-F881FCFA5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10050"/>
            <a:ext cx="1219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Frame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2C04BC-9955-4F64-8698-ACB2DEBA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97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Same frame is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embedded for a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distance check.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DAF48E-E882-4AC6-AD50-BAB6DDAC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467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82E452-BA8A-45AD-BEF0-A029BA3B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22860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36C394-4A34-4A2C-BF30-D3C2F55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43350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C366FA-C48B-4AE8-B85E-8C687A00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148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CLIP ViT-B/32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8ECE52-BA71-44A3-8405-7718A11D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457700"/>
            <a:ext cx="19431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Best explicit OOD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detector when paired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with kNN.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F9AC5-5BA3-47EB-8AF1-03D186B0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672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965EA5-368B-4EEE-8F7D-12F23435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20383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012C71-070A-4C52-B4CF-49827F0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433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93268DF-489B-4A3F-B3A5-25730370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FAISS kNN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39BA1F-0C5D-471D-9E09-B6B3D095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57700"/>
            <a:ext cx="16954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Compare to the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37,344-image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clear-weather ID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bank.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5D93B8-C519-4455-ABEC-25609129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9908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62436C-A35F-44CE-BD5E-03916668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81300"/>
            <a:ext cx="2990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8FAEA12-9694-4072-BA9D-C9005F72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52750"/>
            <a:ext cx="2647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12B"/>
                </a:solidFill>
              </a:defRPr>
            </a:pPr>
            <a:r>
              <a:rPr sz="1425" b="1">
                <a:solidFill>
                  <a:srgbClr val="10212B"/>
                </a:solidFill>
              </a:rPr>
              <a:t>Safety gate logic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BA06E7-9D1F-4085-B07C-76966EE3B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95650"/>
            <a:ext cx="2647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TRUST below tau. SLOW DOWN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near tau. ABSTAIN when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distance spikes or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confidence collapses.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5597CE-3C04-46FE-A425-DEBECF80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E33795-AA5E-4525-9E27-B5E1855A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609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AA25235-0A4F-48D6-9423-6329D88E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0.9368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697EC4-7122-439E-A97C-0B166D43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67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Classifier val acc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A917D9-6837-4C98-A48C-FE49C6AE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1975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32F29B-D851-4D54-845C-35BDD1E4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619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8606AA-612F-4E1A-8EEA-EA117976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829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0.7412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396AAE-2AEF-467B-A0C7-A5DF2758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267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OOD AUROC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30FFA70-CFD3-4485-AE88-ED6B74FB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19750"/>
            <a:ext cx="2266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89F672-0FDA-4E9C-B202-5A752557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619750"/>
            <a:ext cx="2266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1F3279-614F-4493-9938-043F10D6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829300"/>
            <a:ext cx="1885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12B"/>
                </a:solidFill>
              </a:defRPr>
            </a:pPr>
            <a:r>
              <a:rPr sz="2325" b="1">
                <a:solidFill>
                  <a:srgbClr val="10212B"/>
                </a:solidFill>
              </a:rPr>
              <a:t>0.1020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6C7F456-ACD0-4CF4-B83C-2AF641E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267450"/>
            <a:ext cx="1885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515A"/>
                </a:solidFill>
              </a:defRPr>
            </a:pPr>
            <a:r>
              <a:rPr sz="1125" b="0">
                <a:solidFill>
                  <a:srgbClr val="44515A"/>
                </a:solidFill>
              </a:rPr>
              <a:t>Current kNN tau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7E3952-FA2A-4BD1-B55D-2244221C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562600"/>
            <a:ext cx="35433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9B63DE6-A03A-4E86-90D1-4FE8A862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695950"/>
            <a:ext cx="3200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One required follow-up: rerun both branches on one shared train/val/test protocol before any deployment claim.</a:t>
            </a:r>
          </a:p>
        </p:txBody>
      </p:sp>
    </p:spTree>
    <p:extLst>
      <p:ext uri="{BB962C8B-B14F-4D97-AF65-F5344CB8AC3E}">
        <p14:creationId xmlns:p14="http://schemas.microsoft.com/office/powerpoint/2010/main" val="3374298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C8BECA1-9F37-42AE-86EC-5C65B6F7C7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55653-1DEE-4F39-9CAC-63EF626A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-66675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12B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C1981-E302-44CC-BAEC-B2A53FAC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66750" y="51435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>
              <a:alpha val="1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9CC91-A3D2-4928-A107-F88904C4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1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A24673-4642-4306-9683-5BA28BB6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E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F716A2-9D61-4270-A182-9A58F176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94E38"/>
                </a:solidFill>
              </a:defRPr>
            </a:pPr>
            <a:r>
              <a:rPr sz="900" b="1">
                <a:solidFill>
                  <a:srgbClr val="C94E38"/>
                </a:solidFill>
              </a:rPr>
              <a:t>CONCLUSION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B73CB-DBC4-41CB-A699-B2F4C5D1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66700"/>
            <a:ext cx="1219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C94E38"/>
                </a:solidFill>
              </a:defRPr>
            </a:pPr>
            <a:r>
              <a:rPr sz="900" b="1">
                <a:solidFill>
                  <a:srgbClr val="C94E38"/>
                </a:solidFill>
              </a:rPr>
              <a:t>09 / 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2AFCB1-BC49-44D9-AD10-DE3BB8A5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12B"/>
                </a:solidFill>
              </a:defRPr>
            </a:pPr>
            <a:r>
              <a:rPr sz="2850" b="1">
                <a:solidFill>
                  <a:srgbClr val="10212B"/>
                </a:solidFill>
              </a:rPr>
              <a:t>What the final presentation should claim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D65F4-929C-4037-97AF-10363E4E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8382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4515A"/>
                </a:solidFill>
              </a:defRPr>
            </a:pPr>
            <a:r>
              <a:rPr sz="1350" b="0">
                <a:solidFill>
                  <a:srgbClr val="44515A"/>
                </a:solidFill>
              </a:rPr>
              <a:t>The notebooks point to a clear direction, with one caveat: unify the evaluation split before turning the project result into a deployment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A16E03-9C59-4693-8E72-D87DB17B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2006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F47F9-673E-4C05-BCA4-1B332243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5ADB7B-3D2F-4BF1-8907-F9374771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12382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CD187-08FE-46CA-A6D7-106150A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955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SUPPORTED CLAIMS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F80DB7-7910-4423-81C0-4C75C8A3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478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What the experiments already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BF303-1923-4711-A07B-CAEA64A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47815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ConvNeXt-Tiny was the strongest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supervised backbone at 0.9368 validation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accuracy.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CLIP ViT-B/32 + kNN was the strongest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explicit OOD gate at 0.7412 AUROC.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Temperature scaling improved ResNet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calibration from 0.1037 ECE to 0.0161.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Confidence-only OOD scores were too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conservative to make a practical gate.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8DF62-ABC6-43FA-9D18-409A6BCA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5200650" cy="3390900"/>
          </a:xfrm>
          <a:prstGeom xmlns:a="http://schemas.openxmlformats.org/drawingml/2006/main" prst="roundRect">
            <a:avLst>
              <a:gd name="adj" fmla="val 2247"/>
            </a:avLst>
          </a:prstGeom>
          <a:solidFill xmlns:a="http://schemas.openxmlformats.org/drawingml/2006/main">
            <a:srgbClr val="FFFFFF">
              <a:alpha val="93725"/>
            </a:srgbClr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DE9340-7851-4CD1-B4C2-151388F2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7620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31890-1FCE-4F44-AACA-413BC93D3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9906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584110-31DD-4AE3-B320-0069B0F9C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95525"/>
            <a:ext cx="80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AA5885-55C6-46A2-98DC-F366DEC0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90800"/>
            <a:ext cx="4781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12B"/>
                </a:solidFill>
              </a:defRPr>
            </a:pPr>
            <a:r>
              <a:rPr sz="1725" b="1">
                <a:solidFill>
                  <a:srgbClr val="10212B"/>
                </a:solidFill>
              </a:rPr>
              <a:t>What should happen next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4C63C9-8864-4E42-9755-E955F6C4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33700"/>
            <a:ext cx="478155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Rebuild one shared benchmark split and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rerun every method on it.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Add night, construction, and corruption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shifts for a broader OOD story.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Report latency and memory so the gate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can be judged as a real-time component.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- Integrate the thresholded gate into the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simulator and measure intervention</a:t>
            </a:r>
          </a:p>
          <a:p xmlns:a="http://schemas.openxmlformats.org/drawingml/2006/main">
            <a:pPr algn="l">
              <a:defRPr sz="1050" b="0">
                <a:solidFill>
                  <a:srgbClr val="13212C"/>
                </a:solidFill>
              </a:defRPr>
            </a:pPr>
            <a:r>
              <a:rPr sz="1050" b="0">
                <a:solidFill>
                  <a:srgbClr val="13212C"/>
                </a:solidFill>
              </a:rPr>
              <a:t>quality.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593AB0-1D80-4BD1-B9B8-65541218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E4DF"/>
          </a:solidFill>
          <a:ln xmlns:a="http://schemas.openxmlformats.org/drawingml/2006/main" w="10478">
            <a:solidFill>
              <a:srgbClr val="1021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9C98A6-E75A-45C1-8ADA-C632BD84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62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12B"/>
                </a:solidFill>
              </a:defRPr>
            </a:pPr>
            <a:r>
              <a:rPr sz="1200" b="1">
                <a:solidFill>
                  <a:srgbClr val="10212B"/>
                </a:solidFill>
              </a:rPr>
              <a:t>Final recommendation for the deck: present ConvNeXt-Tiny as the best classifier, CLIP ViT-B/32 + kNN as the best reject-option OOD detector, and a unified evaluation protocol as the immediate next milestone.</a:t>
            </a:r>
          </a:p>
        </p:txBody>
      </p:sp>
    </p:spTree>
    <p:extLst>
      <p:ext uri="{BB962C8B-B14F-4D97-AF65-F5344CB8AC3E}">
        <p14:creationId xmlns:p14="http://schemas.microsoft.com/office/powerpoint/2010/main" val="16614121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2026-04-20T04:56:33.8860000Z</dcterms:created>
  <dcterms:modified xsi:type="dcterms:W3CDTF">2026-04-20T04:56:33.8860000Z</dcterms:modified>
</coreProperties>
</file>