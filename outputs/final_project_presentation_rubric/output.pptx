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3e96ec6bb84d2c" /><Relationship Type="http://schemas.openxmlformats.org/officeDocument/2006/relationships/extended-properties" Target="/docProps/app.xml" Id="Rf7875adc00984377" /><Relationship Type="http://schemas.openxmlformats.org/officeDocument/2006/relationships/officeDocument" Target="/ppt/presentation.xml" Id="Rfd234569bc8640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431f04e24843a2"/>
  </p:sldMasterIdLst>
  <p:notesMasterIdLst>
    <p:notesMasterId xmlns:r="http://schemas.openxmlformats.org/officeDocument/2006/relationships" r:id="Rcb5a14c012a74c83"/>
  </p:notesMasterIdLst>
  <p:sldIdLst>
    <p:sldId xmlns:r="http://schemas.openxmlformats.org/officeDocument/2006/relationships" id="256" r:id="Rad714be9d1334e19"/>
    <p:sldId xmlns:r="http://schemas.openxmlformats.org/officeDocument/2006/relationships" id="257" r:id="R8b794c5199124769"/>
    <p:sldId xmlns:r="http://schemas.openxmlformats.org/officeDocument/2006/relationships" id="258" r:id="R82388611d1824cbc"/>
    <p:sldId xmlns:r="http://schemas.openxmlformats.org/officeDocument/2006/relationships" id="259" r:id="R02ac3d0097ba4a83"/>
    <p:sldId xmlns:r="http://schemas.openxmlformats.org/officeDocument/2006/relationships" id="260" r:id="Ra8842810937b4f6f"/>
    <p:sldId xmlns:r="http://schemas.openxmlformats.org/officeDocument/2006/relationships" id="261" r:id="R19a5f069168a483e"/>
    <p:sldId xmlns:r="http://schemas.openxmlformats.org/officeDocument/2006/relationships" id="262" r:id="Rba1b64e8fb4947fe"/>
    <p:sldId xmlns:r="http://schemas.openxmlformats.org/officeDocument/2006/relationships" id="263" r:id="R6c898ed3b4674974"/>
    <p:sldId xmlns:r="http://schemas.openxmlformats.org/officeDocument/2006/relationships" id="264" r:id="R41b5f4a1214c42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431f04e24843a2" /><Relationship Type="http://schemas.openxmlformats.org/officeDocument/2006/relationships/theme" Target="/ppt/theme/theme1.xml" Id="Rb009991d97314269" /><Relationship Type="http://schemas.openxmlformats.org/officeDocument/2006/relationships/notesMaster" Target="/ppt/notesMasters/notesMaster1.xml" Id="Rcb5a14c012a74c83" /><Relationship Type="http://schemas.openxmlformats.org/officeDocument/2006/relationships/presProps" Target="/ppt/presProps.xml" Id="Rcb8c307fa1174c76" /><Relationship Type="http://schemas.openxmlformats.org/officeDocument/2006/relationships/viewProps" Target="/ppt/viewProps.xml" Id="Rcbc95f23cf8c4a0d" /><Relationship Type="http://schemas.openxmlformats.org/officeDocument/2006/relationships/tableStyles" Target="/ppt/tableStyles.xml" Id="R6e5a9bbb1a8644b3" /><Relationship Type="http://schemas.openxmlformats.org/officeDocument/2006/relationships/slide" Target="/ppt/slides/slide1.xml" Id="Rad714be9d1334e19" /><Relationship Type="http://schemas.openxmlformats.org/officeDocument/2006/relationships/slide" Target="/ppt/slides/slide2.xml" Id="R8b794c5199124769" /><Relationship Type="http://schemas.openxmlformats.org/officeDocument/2006/relationships/slide" Target="/ppt/slides/slide3.xml" Id="R82388611d1824cbc" /><Relationship Type="http://schemas.openxmlformats.org/officeDocument/2006/relationships/slide" Target="/ppt/slides/slide4.xml" Id="R02ac3d0097ba4a83" /><Relationship Type="http://schemas.openxmlformats.org/officeDocument/2006/relationships/slide" Target="/ppt/slides/slide5.xml" Id="Ra8842810937b4f6f" /><Relationship Type="http://schemas.openxmlformats.org/officeDocument/2006/relationships/slide" Target="/ppt/slides/slide6.xml" Id="R19a5f069168a483e" /><Relationship Type="http://schemas.openxmlformats.org/officeDocument/2006/relationships/slide" Target="/ppt/slides/slide7.xml" Id="Rba1b64e8fb4947fe" /><Relationship Type="http://schemas.openxmlformats.org/officeDocument/2006/relationships/slide" Target="/ppt/slides/slide8.xml" Id="R6c898ed3b4674974" /><Relationship Type="http://schemas.openxmlformats.org/officeDocument/2006/relationships/slide" Target="/ppt/slides/slide9.xml" Id="R41b5f4a1214c42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44b10ad8e1348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b8e7538ae44017" /><Relationship Type="http://schemas.openxmlformats.org/officeDocument/2006/relationships/notesMaster" Target="/ppt/notesMasters/notesMaster1.xml" Id="Rd79440a44fe846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2d694dc6c84f06" /><Relationship Type="http://schemas.openxmlformats.org/officeDocument/2006/relationships/notesMaster" Target="/ppt/notesMasters/notesMaster1.xml" Id="R0406652202a84d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f5b34a1fed4855" /><Relationship Type="http://schemas.openxmlformats.org/officeDocument/2006/relationships/notesMaster" Target="/ppt/notesMasters/notesMaster1.xml" Id="Rc80f13faef7449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a69e0edd474add" /><Relationship Type="http://schemas.openxmlformats.org/officeDocument/2006/relationships/notesMaster" Target="/ppt/notesMasters/notesMaster1.xml" Id="R1c4bb40b475849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483f8370324205" /><Relationship Type="http://schemas.openxmlformats.org/officeDocument/2006/relationships/notesMaster" Target="/ppt/notesMasters/notesMaster1.xml" Id="Ra2398ea38af84c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a9cf438a6f4620" /><Relationship Type="http://schemas.openxmlformats.org/officeDocument/2006/relationships/notesMaster" Target="/ppt/notesMasters/notesMaster1.xml" Id="Redabb074090740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733fcdbefb4916" /><Relationship Type="http://schemas.openxmlformats.org/officeDocument/2006/relationships/notesMaster" Target="/ppt/notesMasters/notesMaster1.xml" Id="R70a482b8120046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b47dbfb8d64d45" /><Relationship Type="http://schemas.openxmlformats.org/officeDocument/2006/relationships/notesMaster" Target="/ppt/notesMasters/notesMaster1.xml" Id="Rf215356c2e0042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33365791a84c2d" /><Relationship Type="http://schemas.openxmlformats.org/officeDocument/2006/relationships/notesMaster" Target="/ppt/notesMasters/notesMaster1.xml" Id="R07c6b5330f9048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slide with the talk map to address pacing and time management directly. Spend under one minute here, then move into the motivation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/Users/crreddy/Documents/AI_Project/ODD-OOD-Detection-for-Safe-Autonomy.pptx (project framing, goal, and original slide arc)</a:t>
            </a:r>
          </a:p>
          <a:p xmlns:a="http://schemas.openxmlformats.org/drawingml/2006/main">
            <a:r>
              <a:t>- /Users/crreddy/Documents/AI_Project/ResNet50/AI_RESNET.ipynb (ResNet-50 baseline, uncertainty scoring, temperature scaling, saved plots)</a:t>
            </a:r>
          </a:p>
          <a:p xmlns:a="http://schemas.openxmlformats.org/drawingml/2006/main">
            <a:r>
              <a:t>- /Users/crreddy/Documents/AI_Project/Vit+knn/Deep_Ensemble_(1).ipynb (CLIP ViT-B/32 + FAISS kNN: AUROC 0.7412, coverage 0.1904 at 5% false-safe)</a:t>
            </a:r>
          </a:p>
          <a:p xmlns:a="http://schemas.openxmlformats.org/drawingml/2006/main">
            <a:r>
              <a:t>- /Users/crreddy/Documents/AI_Project/results of vit/VIT_BACKBONE.ipynb (supervised backbone sweep: ConvNeXt-Tiny best val accuracy 0.9368)</a:t>
            </a:r>
          </a:p>
          <a:p xmlns:a="http://schemas.openxmlformats.org/drawingml/2006/main">
            <a:r>
              <a:t>- /Users/crreddy/Documents/AI_Project/SVDD/Deep_Ensemble_(2).ipynb (Deep SVDD baseline: AUROC 0.5841, coverage 0.0625 at 5% false-safe)</a:t>
            </a:r>
          </a:p>
          <a:p xmlns:a="http://schemas.openxmlformats.org/drawingml/2006/main">
            <a:r>
              <a:t>- /Users/crreddy/Documents/AI_Project/results of vit/Deep_Ensemble_Mahalanobis.ipynb (Mahalanobis and centroid-distance OOD detection on ResNet features)</a:t>
            </a:r>
          </a:p>
          <a:p xmlns:a="http://schemas.openxmlformats.org/drawingml/2006/main">
            <a:r>
              <a:t>- /Users/crreddy/Documents/AI_Project/vit_l_14/Deep_Ensemble_(1).ipynb (CLIP ViT-L/14 + kNN sweep; best k=5, AUROC 0.7326)</a:t>
            </a:r>
          </a:p>
          <a:p xmlns:a="http://schemas.openxmlformats.org/drawingml/2006/main">
            <a:r>
              <a:t>- /Users/crreddy/Documents/AI_Project/Deep_Ensemble/Deep_Ensemble.ipynb (5-head ensemble on ResNet features, 91.38% validation accuracy on full weather binary split)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Motivation slide aligned to the rubric. Emphasize why the problem is challenging, safety-critical, and worth solving.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/Users/crreddy/Documents/AI_Project/ODD-OOD-Detection-for-Safe-Autonomy.pptx (project framing, goal, and original slide arc)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Related-work slide aligned to the rubric. Present these six families as the baseline space and explain how the final contribution is positioned among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/Users/crreddy/Documents/AI_Project/ResNet50/AI_RESNET.ipynb (ResNet-50 baseline, uncertainty scoring, temperature scaling, saved plots)</a:t>
            </a:r>
          </a:p>
          <a:p xmlns:a="http://schemas.openxmlformats.org/drawingml/2006/main">
            <a:r>
              <a:t>- /Users/crreddy/Documents/AI_Project/Deep_Ensemble/Deep_Ensemble.ipynb (5-head ensemble on ResNet features, 91.38% validation accuracy on full weather binary split)</a:t>
            </a:r>
          </a:p>
          <a:p xmlns:a="http://schemas.openxmlformats.org/drawingml/2006/main">
            <a:r>
              <a:t>- /Users/crreddy/Documents/AI_Project/SVDD/Deep_Ensemble_(2).ipynb (Deep SVDD baseline: AUROC 0.5841, coverage 0.0625 at 5% false-safe)</a:t>
            </a:r>
          </a:p>
          <a:p xmlns:a="http://schemas.openxmlformats.org/drawingml/2006/main">
            <a:r>
              <a:t>- /Users/crreddy/Documents/AI_Project/results of vit/Deep_Ensemble_Mahalanobis.ipynb (Mahalanobis and centroid-distance OOD detection on ResNet features)</a:t>
            </a:r>
          </a:p>
          <a:p xmlns:a="http://schemas.openxmlformats.org/drawingml/2006/main">
            <a:r>
              <a:t>- /Users/crreddy/Documents/AI_Project/Vit+knn/Deep_Ensemble_(1).ipynb (CLIP ViT-B/32 + FAISS kNN: AUROC 0.7412, coverage 0.1904 at 5% false-safe)</a:t>
            </a:r>
          </a:p>
          <a:p xmlns:a="http://schemas.openxmlformats.org/drawingml/2006/main">
            <a:r>
              <a:t>- /Users/crreddy/Documents/AI_Project/vit_l_14/Deep_Ensemble_(1).ipynb (CLIP ViT-L/14 + kNN sweep; best k=5, AUROC 0.7326)</a:t>
            </a:r>
          </a:p>
          <a:p xmlns:a="http://schemas.openxmlformats.org/drawingml/2006/main">
            <a:r>
              <a:t>- /Users/crreddy/Documents/AI_Project/results of vit/VIT_BACKBONE.ipynb (supervised backbone sweep: ConvNeXt-Tiny best val accuracy 0.9368)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slide aligned to the rubric. Present this as the technically justified final method, motivated by the evidence shown in later experiments.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/Users/crreddy/Documents/AI_Project/results of vit/VIT_BACKBONE.ipynb (supervised backbone sweep: ConvNeXt-Tiny best val accuracy 0.9368)</a:t>
            </a:r>
          </a:p>
          <a:p xmlns:a="http://schemas.openxmlformats.org/drawingml/2006/main">
            <a:r>
              <a:t>- /Users/crreddy/Documents/AI_Project/Vit+knn/Deep_Ensemble_(1).ipynb (CLIP ViT-B/32 + FAISS kNN: AUROC 0.7412, coverage 0.1904 at 5% false-safe)</a:t>
            </a:r>
          </a:p>
          <a:p xmlns:a="http://schemas.openxmlformats.org/drawingml/2006/main">
            <a:r>
              <a:t>- /Users/crreddy/Documents/AI_Project/ResNet50/AI_RESNET.ipynb (ResNet-50 baseline, uncertainty scoring, temperature scaling, saved plots)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Experimental setup slide. This is where to explain the three evaluation tracks and why split differences matter.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/Users/crreddy/Documents/AI_Project/ResNet50/AI_RESNET.ipynb (ResNet-50 baseline, uncertainty scoring, temperature scaling, saved plots)</a:t>
            </a:r>
          </a:p>
          <a:p xmlns:a="http://schemas.openxmlformats.org/drawingml/2006/main">
            <a:r>
              <a:t>- /Users/crreddy/Documents/AI_Project/results of vit/VIT_BACKBONE.ipynb (supervised backbone sweep: ConvNeXt-Tiny best val accuracy 0.9368)</a:t>
            </a:r>
          </a:p>
          <a:p xmlns:a="http://schemas.openxmlformats.org/drawingml/2006/main">
            <a:r>
              <a:t>- /Users/crreddy/Documents/AI_Project/Vit+knn/Deep_Ensemble_(1).ipynb (CLIP ViT-B/32 + FAISS kNN: AUROC 0.7412, coverage 0.1904 at 5% false-safe)</a:t>
            </a:r>
          </a:p>
          <a:p xmlns:a="http://schemas.openxmlformats.org/drawingml/2006/main">
            <a:r>
              <a:t>- /Users/crreddy/Documents/AI_Project/vit_l_14/Deep_Ensemble_(1).ipynb (CLIP ViT-L/14 + kNN sweep; best k=5, AUROC 0.7326)</a:t>
            </a:r>
          </a:p>
          <a:p xmlns:a="http://schemas.openxmlformats.org/drawingml/2006/main">
            <a:r>
              <a:t>- /Users/crreddy/Documents/AI_Project/results of vit/Deep_Ensemble_Mahalanobis.ipynb (Mahalanobis and centroid-distance OOD detection on ResNet features)</a:t>
            </a:r>
          </a:p>
          <a:p xmlns:a="http://schemas.openxmlformats.org/drawingml/2006/main">
            <a:r>
              <a:t>- /Users/crreddy/Documents/AI_Project/Deep_Ensemble/Deep_Ensemble.ipynb (5-head ensemble on ResNet features, 91.38% validation accuracy on full weather binary split)</a:t>
            </a:r>
          </a:p>
          <a:p xmlns:a="http://schemas.openxmlformats.org/drawingml/2006/main">
            <a:r>
              <a:t>- /Users/crreddy/Documents/AI_Project/SVDD/Deep_Ensemble_(2).ipynb (Deep SVDD baseline: AUROC 0.5841, coverage 0.0625 at 5% false-safe)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ResNet baseline results slide. This uses the saved comparison plot from the ResNet notebook plus the extracted summary metrics from the final results cell.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/Users/crreddy/Documents/AI_Project/ResNet50/AI_RESNET.ipynb (ResNet-50 baseline, uncertainty scoring, temperature scaling, saved plots)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Feature-space comparison slide. SVDD is included as an exploratory baseline and explicitly labeled as a different split; Mahalanobis and both CLIP cards share the clear-only ID bank split.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/Users/crreddy/Documents/AI_Project/SVDD/Deep_Ensemble_(2).ipynb (Deep SVDD baseline: AUROC 0.5841, coverage 0.0625 at 5% false-safe)</a:t>
            </a:r>
          </a:p>
          <a:p xmlns:a="http://schemas.openxmlformats.org/drawingml/2006/main">
            <a:r>
              <a:t>- /Users/crreddy/Documents/AI_Project/results of vit/Deep_Ensemble_Mahalanobis.ipynb (Mahalanobis and centroid-distance OOD detection on ResNet features)</a:t>
            </a:r>
          </a:p>
          <a:p xmlns:a="http://schemas.openxmlformats.org/drawingml/2006/main">
            <a:r>
              <a:t>- /Users/crreddy/Documents/AI_Project/Vit+knn/Deep_Ensemble_(1).ipynb (CLIP ViT-B/32 + FAISS kNN: AUROC 0.7412, coverage 0.1904 at 5% false-safe)</a:t>
            </a:r>
          </a:p>
          <a:p xmlns:a="http://schemas.openxmlformats.org/drawingml/2006/main">
            <a:r>
              <a:t>- /Users/crreddy/Documents/AI_Project/vit_l_14/Deep_Ensemble_(1).ipynb (CLIP ViT-L/14 + kNN sweep; best k=5, AUROC 0.7326)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Backbone sweep slide driven by the final training output in VIT_BACKBONE.ipynb. The conclusion is classification-focused rather than reject-option focused.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/Users/crreddy/Documents/AI_Project/results of vit/VIT_BACKBONE.ipynb (supervised backbone sweep: ConvNeXt-Tiny best val accuracy 0.9368)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slide. It translates the notebook review into exactly what the team can claim now and what still needs to be done for a rigorous final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/Users/crreddy/Documents/AI_Project/ResNet50/AI_RESNET.ipynb (ResNet-50 baseline, uncertainty scoring, temperature scaling, saved plots)</a:t>
            </a:r>
          </a:p>
          <a:p xmlns:a="http://schemas.openxmlformats.org/drawingml/2006/main">
            <a:r>
              <a:t>- /Users/crreddy/Documents/AI_Project/Deep_Ensemble/Deep_Ensemble.ipynb (5-head ensemble on ResNet features, 91.38% validation accuracy on full weather binary split)</a:t>
            </a:r>
          </a:p>
          <a:p xmlns:a="http://schemas.openxmlformats.org/drawingml/2006/main">
            <a:r>
              <a:t>- /Users/crreddy/Documents/AI_Project/SVDD/Deep_Ensemble_(2).ipynb (Deep SVDD baseline: AUROC 0.5841, coverage 0.0625 at 5% false-safe)</a:t>
            </a:r>
          </a:p>
          <a:p xmlns:a="http://schemas.openxmlformats.org/drawingml/2006/main">
            <a:r>
              <a:t>- /Users/crreddy/Documents/AI_Project/results of vit/Deep_Ensemble_Mahalanobis.ipynb (Mahalanobis and centroid-distance OOD detection on ResNet features)</a:t>
            </a:r>
          </a:p>
          <a:p xmlns:a="http://schemas.openxmlformats.org/drawingml/2006/main">
            <a:r>
              <a:t>- /Users/crreddy/Documents/AI_Project/Vit+knn/Deep_Ensemble_(1).ipynb (CLIP ViT-B/32 + FAISS kNN: AUROC 0.7412, coverage 0.1904 at 5% false-safe)</a:t>
            </a:r>
          </a:p>
          <a:p xmlns:a="http://schemas.openxmlformats.org/drawingml/2006/main">
            <a:r>
              <a:t>- /Users/crreddy/Documents/AI_Project/vit_l_14/Deep_Ensemble_(1).ipynb (CLIP ViT-L/14 + kNN sweep; best k=5, AUROC 0.7326)</a:t>
            </a:r>
          </a:p>
          <a:p xmlns:a="http://schemas.openxmlformats.org/drawingml/2006/main">
            <a:r>
              <a:t>- /Users/crreddy/Documents/AI_Project/results of vit/VIT_BACKBONE.ipynb (supervised backbone sweep: ConvNeXt-Tiny best val accuracy 0.9368)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5700a3e21b43a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7042897C-28D1-4B6B-997C-8EA25E134224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88231F39-ACB8-4E38-A294-D6074448A479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1F68C97-4C59-49D8-80FF-E6520E29BAA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DCE2CC-D94D-427B-BE8F-F28C2C5C79A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834657-7F41-441D-AF38-F1066809892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5e81ea73f4247f2" /><Relationship Type="http://schemas.openxmlformats.org/officeDocument/2006/relationships/slideLayout" Target="/ppt/slideLayouts/slideLayout2.xml" Id="R8286fc4db4ba4d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4390E9-0ACB-4666-A7F5-7589B9FB3484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86fc4db4ba4d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99be28772e4225" /><Relationship Type="http://schemas.openxmlformats.org/officeDocument/2006/relationships/notesSlide" Target="/ppt/notesSlides/notesSlide1.xml" Id="R6965db396aac40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4ca83a4cdb4697" /><Relationship Type="http://schemas.openxmlformats.org/officeDocument/2006/relationships/notesSlide" Target="/ppt/notesSlides/notesSlide2.xml" Id="R45ef07c4aa6742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ea4270e0774222" /><Relationship Type="http://schemas.openxmlformats.org/officeDocument/2006/relationships/notesSlide" Target="/ppt/notesSlides/notesSlide3.xml" Id="R9c7eeca1986f41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5db86190dd4a12" /><Relationship Type="http://schemas.openxmlformats.org/officeDocument/2006/relationships/notesSlide" Target="/ppt/notesSlides/notesSlide4.xml" Id="R46c6e6e33ef244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61908c966d4824" /><Relationship Type="http://schemas.openxmlformats.org/officeDocument/2006/relationships/notesSlide" Target="/ppt/notesSlides/notesSlide5.xml" Id="R4187b1c91f8542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e58f70d73c4f88" /><Relationship Type="http://schemas.openxmlformats.org/officeDocument/2006/relationships/image" Target="/ppt/media/image.png" Id="R84dc5031a07a4c16" /><Relationship Type="http://schemas.openxmlformats.org/officeDocument/2006/relationships/notesSlide" Target="/ppt/notesSlides/notesSlide6.xml" Id="R1b398f6b274847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7234c5382647a3" /><Relationship Type="http://schemas.openxmlformats.org/officeDocument/2006/relationships/notesSlide" Target="/ppt/notesSlides/notesSlide7.xml" Id="R46f6f5a8e87b46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1200835fc6456d" /><Relationship Type="http://schemas.openxmlformats.org/officeDocument/2006/relationships/notesSlide" Target="/ppt/notesSlides/notesSlide8.xml" Id="Re5bf9ce9eb0f4a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50a148e8bb4e98" /><Relationship Type="http://schemas.openxmlformats.org/officeDocument/2006/relationships/notesSlide" Target="/ppt/notesSlides/notesSlide9.xml" Id="R7aed851f205e4e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834657-7F41-441D-AF38-F106680989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87F9D-4702-4AAB-A3E9-EB58870E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69B0E-BCFD-460E-B063-CEB4BBA2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B10B8-821A-4ECF-A731-66E410AE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EB9E6-DD00-4E69-9E68-766B071C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14F2B-CB3D-4360-B51C-F7B50DF6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E3DA"/>
                </a:solidFill>
              </a:defRPr>
            </a:pPr>
            <a:r>
              <a:rPr sz="900" b="1">
                <a:solidFill>
                  <a:srgbClr val="A7E3DA"/>
                </a:solidFill>
              </a:rPr>
              <a:t>FINAL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0CB96-3C82-4D4E-A600-28CA3DCA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590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ODD + OOD Detection for Safe Autonomy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71ADF-C706-42A6-A4F0-7102C082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Final project presentation refactored around the grading rubric: motivation, related work, method, experiments, and conclusion.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87A9F-3D2D-4A09-B771-BA128A5D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1435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53466-58EC-451F-9CA5-32E8EB2F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5D26A-4511-46C3-B7FF-018BBD9D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9525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07609-58BD-42EB-B3E2-0F6D70EA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4812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PROJECT 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B0C2B-26D5-4CC9-BA75-120850B2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472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Target contribution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BBCB2-1493-44A6-970C-ACEE3447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4724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Build an ODD-aware safety gate for camera-based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autonomy under weather shift.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Show which methods actually worked in the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notebooks, not just what was proposed.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Present one technically honest final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recommendation with clear next steps.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38E90-06B3-4E72-8F05-7DFB6460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7429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2B"/>
                </a:solidFill>
              </a:defRPr>
            </a:pPr>
            <a:r>
              <a:rPr sz="1800" b="1">
                <a:solidFill>
                  <a:srgbClr val="10212B"/>
                </a:solidFill>
              </a:rPr>
              <a:t>Talk map and pacing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BD335-80AD-4760-A07B-85B39DE2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200150"/>
            <a:ext cx="3733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BA89E-4D07-4865-B332-AE012B38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95400"/>
            <a:ext cx="781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218CE3-F3BB-4DE0-9FBD-956CBB03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3716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0:45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07C57B-4585-431A-A059-957D43EB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33350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2B"/>
                </a:solidFill>
              </a:defRPr>
            </a:pPr>
            <a:r>
              <a:rPr sz="1275" b="1">
                <a:solidFill>
                  <a:srgbClr val="10212B"/>
                </a:solidFill>
              </a:rPr>
              <a:t>Motivation and problem definition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AD90FD-29E4-4156-9F51-C2E9C902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28800"/>
            <a:ext cx="3733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180586-7305-4B73-BD68-E038666A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24050"/>
            <a:ext cx="781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1E609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9C9500-E6B5-4581-A656-F60E1980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002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1:00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FADB92-9B03-4D2F-BB1B-FD75B940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6215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2B"/>
                </a:solidFill>
              </a:defRPr>
            </a:pPr>
            <a:r>
              <a:rPr sz="1275" b="1">
                <a:solidFill>
                  <a:srgbClr val="10212B"/>
                </a:solidFill>
              </a:rPr>
              <a:t>Baselines and related work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8E2FD0-CCB7-4A95-B6F7-6DAC29D6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57450"/>
            <a:ext cx="3733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377EB3-5A74-495E-8440-08BB0BFF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52700"/>
            <a:ext cx="781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BD8BF4-4067-41D5-9001-D21B6EB8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289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1:00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44ED39-E06A-42AF-932D-6451CEF5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9080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2B"/>
                </a:solidFill>
              </a:defRPr>
            </a:pPr>
            <a:r>
              <a:rPr sz="1275" b="1">
                <a:solidFill>
                  <a:srgbClr val="10212B"/>
                </a:solidFill>
              </a:rPr>
              <a:t>Proposed final method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A0C6CF-5777-47B3-A3CE-4F7D16DC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86100"/>
            <a:ext cx="3733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798B17-4FEF-4592-9E60-7C0EF95A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81350"/>
            <a:ext cx="781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94E38"/>
          </a:solidFill>
          <a:ln xmlns:a="http://schemas.openxmlformats.org/drawingml/2006/main" w="0">
            <a:solidFill>
              <a:srgbClr val="C94E3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B03387-358F-4690-ACA3-9397689D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575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3:00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690F0E-8255-4733-BD1B-87CFD689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1945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2B"/>
                </a:solidFill>
              </a:defRPr>
            </a:pPr>
            <a:r>
              <a:rPr sz="1275" b="1">
                <a:solidFill>
                  <a:srgbClr val="10212B"/>
                </a:solidFill>
              </a:rPr>
              <a:t>Experiments and evidence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3D0AA8-EFAE-4EBB-A264-53CCD1B9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14750"/>
            <a:ext cx="3733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FA09B6-BD6F-4D41-9912-4B039EE6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10000"/>
            <a:ext cx="781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9F5A5F-E539-4C57-8D93-D85704CC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862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1:00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328290-FC37-4FEB-889B-FFA10DD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4810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2B"/>
                </a:solidFill>
              </a:defRPr>
            </a:pPr>
            <a:r>
              <a:rPr sz="1275" b="1">
                <a:solidFill>
                  <a:srgbClr val="10212B"/>
                </a:solidFill>
              </a:rPr>
              <a:t>Conclusion and discussion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9834F0-06E7-4AE8-883A-3463B980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00550"/>
            <a:ext cx="37338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4F0F8"/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5E3D42-E550-4F00-8747-01D277EA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95800"/>
            <a:ext cx="3390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</a:defRPr>
            </a:pPr>
            <a:r>
              <a:rPr sz="1200" b="1">
                <a:solidFill>
                  <a:srgbClr val="10212B"/>
                </a:solidFill>
              </a:rPr>
              <a:t>Target total: about 7 minutes, leaving buffer for questions and transitions.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3C924B-0707-428E-BEF8-0DA994B3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00650"/>
            <a:ext cx="3733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999E4D-6AFE-4881-A2BC-A56E9524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295900"/>
            <a:ext cx="3390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8701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</a:defRPr>
            </a:pPr>
            <a:r>
              <a:rPr sz="1200" b="1">
                <a:solidFill>
                  <a:srgbClr val="10212B"/>
                </a:solidFill>
              </a:rPr>
              <a:t>Key message for the audience: the best current story is a hybrid system with ConvNeXt-Tiny for classification and CLIP + kNN for explicit OOD rejection.</a:t>
            </a:r>
          </a:p>
        </p:txBody>
      </p:sp>
    </p:spTree>
    <p:extLst>
      <p:ext uri="{BB962C8B-B14F-4D97-AF65-F5344CB8AC3E}">
        <p14:creationId xmlns:p14="http://schemas.microsoft.com/office/powerpoint/2010/main" val="1099726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834657-7F41-441D-AF38-F106680989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BC440-3F18-4860-8093-2A2F99A5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3C0F0-6BC4-420E-A741-FAEA71F4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143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1ACDA-41F9-413A-9E83-E6743470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F82C5-DE41-4290-85CD-0CA9DB9C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77EA9-8330-4671-98F8-782587B9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MOTIVATION &amp; PROBLEM DEFINITION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5922D-021D-47BB-89C7-75D5E40B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67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02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700B7-DB0B-49C4-B4AB-CED2F51D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2B"/>
                </a:solidFill>
              </a:defRPr>
            </a:pPr>
            <a:r>
              <a:rPr sz="2850" b="1">
                <a:solidFill>
                  <a:srgbClr val="10212B"/>
                </a:solidFill>
              </a:rPr>
              <a:t>Why this problem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65627-28C4-434D-AA6F-126711FE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3340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896EB-87E3-4CA4-A4C4-76CA825E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762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6C6A2-0D1F-4D0E-9DE9-66EF75BD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7810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AC9A0-2EB5-41D1-ABE5-04458699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9E5316-4D82-4B86-8E84-A885BC84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491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Non-trivial safety challenge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88846-8988-4D08-87F4-0FCE01A7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49149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The same road scene can become visually unfamiliar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under weather shift.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False-safe predictions are worse than abstaining,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because the system acts with unjustified confidence.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The gate must work per frame, so the solution has to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be accurate and lightweight.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We treat the task as ODD-aware decision making, not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only image classification.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CF57E-0593-4319-BD3F-E56ED96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4953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FF08A-446B-477A-9B6E-E853E44B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72025"/>
            <a:ext cx="491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Original framing adapted from the initial presentation deck.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E7B4C6-FD3E-4C88-B312-E8D878C8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0250"/>
            <a:ext cx="4572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7C8F73-AC36-4E4C-89B4-45D0C2E0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71700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TRUST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813CB3-212A-4E33-BEB1-F9A907E4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4152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Classifier is confident and the OOD score stays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below threshold.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6B33A-DFB9-443A-BFC3-42D42964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05150"/>
            <a:ext cx="4572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2DD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67C327-57EA-41B1-8078-D476ACF2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76600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SLOW DOWN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9FA103-8EA9-4DEA-B25D-8FD46787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62350"/>
            <a:ext cx="4152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Prediction is usable, but the margin is narrow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and the OOD score is near threshold.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E9357F-A0A2-4D56-9770-7A9B89B9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572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BE4DF"/>
          </a:solidFill>
          <a:ln xmlns:a="http://schemas.openxmlformats.org/drawingml/2006/main" w="11430">
            <a:solidFill>
              <a:srgbClr val="C94E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F26486-0962-4607-9C18-9CF7DF3C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81500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4E38"/>
                </a:solidFill>
              </a:defRPr>
            </a:pPr>
            <a:r>
              <a:rPr sz="1500" b="1">
                <a:solidFill>
                  <a:srgbClr val="C94E38"/>
                </a:solidFill>
              </a:rPr>
              <a:t>ABSTAIN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4E9C84-ED27-428C-ADC9-14DCD690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67250"/>
            <a:ext cx="4152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Reject the frame when the representation looks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out-of-domain or uncertainty spikes.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43EB5C-4540-4398-9BEF-3FC14928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706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F777C2-0665-4048-A2BC-6811682C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0363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213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</a:defRPr>
            </a:pPr>
            <a:r>
              <a:rPr sz="1200" b="1">
                <a:solidFill>
                  <a:srgbClr val="10212B"/>
                </a:solidFill>
              </a:rPr>
              <a:t>Problem definition: given one front-camera frame, decide TRUST, SLOW DOWN, or ABSTAIN using both classification confidence and out-of-domain evidence.</a:t>
            </a:r>
          </a:p>
        </p:txBody>
      </p:sp>
    </p:spTree>
    <p:extLst>
      <p:ext uri="{BB962C8B-B14F-4D97-AF65-F5344CB8AC3E}">
        <p14:creationId xmlns:p14="http://schemas.microsoft.com/office/powerpoint/2010/main" val="3517729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834657-7F41-441D-AF38-F106680989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34565-8522-4720-B0C2-A8823EE3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1C31B-A6CD-45F3-9C25-587017B4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143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B35DF-B58B-4A18-BF6E-6F9005AC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97CBC-0840-478D-AD13-5F040B3C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D6994-70B4-40C1-AA4B-CF6EF960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6091"/>
                </a:solidFill>
              </a:defRPr>
            </a:pPr>
            <a:r>
              <a:rPr sz="900" b="1">
                <a:solidFill>
                  <a:srgbClr val="1E6091"/>
                </a:solidFill>
              </a:rPr>
              <a:t>BASELINE &amp; RELATED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2DF7D-A096-4D2A-8AC2-1756E36D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67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E6091"/>
                </a:solidFill>
              </a:defRPr>
            </a:pPr>
            <a:r>
              <a:rPr sz="900" b="1">
                <a:solidFill>
                  <a:srgbClr val="1E6091"/>
                </a:solidFill>
              </a:rPr>
              <a:t>03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569B8-E66F-4C86-B271-08006A44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2B"/>
                </a:solidFill>
              </a:defRPr>
            </a:pPr>
            <a:r>
              <a:rPr sz="2850" b="1">
                <a:solidFill>
                  <a:srgbClr val="10212B"/>
                </a:solidFill>
              </a:rPr>
              <a:t>Baselines and related work that position our contribution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0D5F7-A1C3-41AC-90B6-92922499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352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F223D-2C1A-45B7-B638-681811BE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CB017-A290-4181-A33C-B6453A3E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8001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9DC81-DA40-4230-A729-D612C15A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RESNET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3025D0-FDB8-46E8-A1CC-D948F8E5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ResNet-50 + MLP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A425B-A8CA-4B02-B546-DD7CFC2F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933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Frozen ImageNet features with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a binary head.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Main baseline for calibration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and uncertainty scoring.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391FA-D733-411B-BEA1-D52C61B3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352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3D4CCA-1D1C-4EEE-B03B-68DDABA3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2561AA-9564-475F-8EB0-EE6D796D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66950"/>
            <a:ext cx="10668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DF179-5271-4909-BACA-F138CB77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14575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UNCERTAINTY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6D28C-BD01-415F-BE93-560E7867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098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Confidence scores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4E5B23-018A-4490-8574-C286F9A2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933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MSP, energy, MC dropout, and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ensemble entropy.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Best AUROC was still only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0.5263.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D72F4C-C625-4999-801B-89F88B1B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352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25E30D-28B3-4303-992B-8814854C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E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8C7756-EE80-4503-8537-28197E96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94E38"/>
          </a:solidFill>
          <a:ln xmlns:a="http://schemas.openxmlformats.org/drawingml/2006/main" w="0">
            <a:solidFill>
              <a:srgbClr val="C94E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10D830-8880-4BB6-8C98-72BC4B10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14575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ENSEMBLE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99D1A1-2EC0-4E19-8CB4-BA4A5CCB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098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Deep ensemble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A48BCA-57D5-4D9F-A402-2108BD17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52750"/>
            <a:ext cx="2933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Five MLP heads on cached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ResNet features.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- 91.38% validation accuracy on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the full-weather split.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CD023F-0F73-456C-9269-B69B13D3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352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A9C111-BD4A-4B84-85FA-D4BE71EC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5EF15E-2DEF-4FB7-8BE3-11F67390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9334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1E609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44DFE8-655A-441F-9132-1EE8F706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ONE-CLASS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B9FF6C-E473-466C-9813-46D46033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SVDD + Mahalanobis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1F0A62-C437-4619-95D7-7F36F717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2933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9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One-class and distance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baselines around the ID feature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cloud.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Mahalanobis beat SVDD, but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both trailed CLIP + kNN.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2B5BA7-8D13-4F9B-B2E9-3694B05C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14800"/>
            <a:ext cx="3352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5412FE-CA1E-4A7A-86A8-311D41CB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1480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F01561-28B4-4A62-B2D9-1ABF352D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86250"/>
            <a:ext cx="666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ACAA10-33A3-4A58-A233-6B45A92C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3387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CLIP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78C165-58E7-4FA8-BECD-2ABE4F91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CLIP + kNN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04DC8A-9880-49DC-B48A-325C9E02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72050"/>
            <a:ext cx="2933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Distance-to-ID in CLIP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embedding space.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Strongest OOD detector family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in the notebooks.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A6F90C-2B51-448F-8898-B3955A17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3352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D31066-2835-4C89-B8EA-BE40B056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7C7486-FE0C-416D-9543-55311C00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86250"/>
            <a:ext cx="10287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00849C-78EF-41F5-A168-203861DD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338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BACKBONES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A9AA98-BBA1-4FC2-986D-63462E09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291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Backbone sweep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9890F1-6965-4C6A-8250-EE51400F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72050"/>
            <a:ext cx="2933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9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ResNet50, EfficientNet-B3,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ConvNeXt-Tiny, and CLIP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ViT-B/16.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ConvNeXt-Tiny was best at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0.9368 validation accuracy.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B14705-45D8-4B29-90CF-68F2D58E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110087-66E3-4D3E-AF99-ABE29A13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29350"/>
            <a:ext cx="1062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88622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</a:defRPr>
            </a:pPr>
            <a:r>
              <a:rPr sz="1200" b="1">
                <a:solidFill>
                  <a:srgbClr val="10212B"/>
                </a:solidFill>
              </a:rPr>
              <a:t>Positioning statement: our contribution is not inventing a new backbone, but identifying which existing families support an ODD-aware safety gate most convincingly.</a:t>
            </a:r>
          </a:p>
        </p:txBody>
      </p:sp>
    </p:spTree>
    <p:extLst>
      <p:ext uri="{BB962C8B-B14F-4D97-AF65-F5344CB8AC3E}">
        <p14:creationId xmlns:p14="http://schemas.microsoft.com/office/powerpoint/2010/main" val="521784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834657-7F41-441D-AF38-F106680989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065AC-1342-4ED2-B503-A3BB3865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D3950-D5AD-4160-8BE6-88223DE2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143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C87DB-2973-461F-A39C-FC3A0BD7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44D59-EBE8-458C-ACD9-40873D52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DEB99-8173-4362-83D7-9575D000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METHOD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9FDF6-D1DD-49D2-A008-FB509122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67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04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330A1-D92B-493B-90D1-9B2B5B01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2B"/>
                </a:solidFill>
              </a:defRPr>
            </a:pPr>
            <a:r>
              <a:rPr sz="2850" b="1">
                <a:solidFill>
                  <a:srgbClr val="10212B"/>
                </a:solidFill>
              </a:rPr>
              <a:t>Proposed final method for the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DDD85-6049-4F8A-9463-A95C5F42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123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1E609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50890-E04A-4AEC-8B4E-B2EDF3AC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CLASSIFIER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99282-A813-4104-B05F-89D32246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895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70F48-DFA8-4911-96D3-563FD0D9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9525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OOD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10D88-90F2-426F-A21D-C591804A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562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CF56B-0A14-40AA-9923-D710B37A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562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23254-D13E-402A-BC95-D41D4829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2B"/>
                </a:solidFill>
              </a:defRPr>
            </a:pPr>
            <a:r>
              <a:rPr sz="1425" b="1">
                <a:solidFill>
                  <a:srgbClr val="10212B"/>
                </a:solidFill>
              </a:rPr>
              <a:t>Frame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E025A-C9CE-4DFF-A7BD-2B4C13AF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9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Camera frame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enters both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paths.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C4B967-D147-4D6C-B41F-40FCE37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81275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1E60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7F1D3-38BD-46F8-8AA0-CB909F34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57400"/>
            <a:ext cx="2286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A495A1-0D6D-4DD5-9655-00B7E86D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5740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0D26B2-9450-4BB9-8A13-96D866B3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288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2B"/>
                </a:solidFill>
              </a:defRPr>
            </a:pPr>
            <a:r>
              <a:rPr sz="1425" b="1">
                <a:solidFill>
                  <a:srgbClr val="10212B"/>
                </a:solidFill>
              </a:rPr>
              <a:t>ConvNeXt-Tiny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84B137-761F-4A39-ABF7-7962B74B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71750"/>
            <a:ext cx="1943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Best classifier in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the sweep. Outputs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an ID/OOD score.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EAD667-7446-411C-BD07-35C329F8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81275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1E609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B4F98D-7808-49FA-8DBA-045555BE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57400"/>
            <a:ext cx="20383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FD78C9-225A-45CE-B5E3-231C4831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574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46692D-C796-4D83-B6D6-D91CA98E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288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2B"/>
                </a:solidFill>
              </a:defRPr>
            </a:pPr>
            <a:r>
              <a:rPr sz="1425" b="1">
                <a:solidFill>
                  <a:srgbClr val="10212B"/>
                </a:solidFill>
              </a:rPr>
              <a:t>Temperature scaling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E7D38C-5358-459D-93F1-79483FD0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1695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Calibrate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confidence before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final gate logic.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1AEA3F-C59B-48B4-9D08-5FFB8849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562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B4C2DC-D86B-438B-B588-AC834294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562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E611D0-4749-4D6B-A089-9A12DEDF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2B"/>
                </a:solidFill>
              </a:defRPr>
            </a:pPr>
            <a:r>
              <a:rPr sz="1425" b="1">
                <a:solidFill>
                  <a:srgbClr val="10212B"/>
                </a:solidFill>
              </a:rPr>
              <a:t>Frame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767AD7-C507-4570-8C14-438C62E0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9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Same frame is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embedded for a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distance check.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C19AD6-DE4D-4E68-9813-117B575B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67225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AA356F-F15B-4FDE-837F-9100FA01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43350"/>
            <a:ext cx="2286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3545BB-3F62-49AB-A5AA-BBA7DCD6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433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77AB8C-E41D-4950-8453-A78E0694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148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2B"/>
                </a:solidFill>
              </a:defRPr>
            </a:pPr>
            <a:r>
              <a:rPr sz="1425" b="1">
                <a:solidFill>
                  <a:srgbClr val="10212B"/>
                </a:solidFill>
              </a:rPr>
              <a:t>CLIP ViT-B/32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F5B4F4-243B-4E3E-BB7C-84BA5499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57700"/>
            <a:ext cx="1943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Best explicit OOD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detector when paired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with kNN.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166BE9-5DB8-4904-B2E1-83DD34A6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67225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8C7E81-A38B-4620-8FC6-BF297276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43350"/>
            <a:ext cx="20383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9CC141-AA39-4F42-ACEC-381234AA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4335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C3391A-A081-426A-86DE-CDEBAA61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2B"/>
                </a:solidFill>
              </a:defRPr>
            </a:pPr>
            <a:r>
              <a:rPr sz="1425" b="1">
                <a:solidFill>
                  <a:srgbClr val="10212B"/>
                </a:solidFill>
              </a:rPr>
              <a:t>FAISS kNN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5364A5-5DEE-4540-BC30-036E8903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57700"/>
            <a:ext cx="1695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Compare to the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37,344-image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clear-weather ID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bank.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4E9AA4-1368-4BB2-9B20-9B79686F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9908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2412B1-6D34-4F90-8316-97F840C1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990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DC6593-85B7-4FE5-A4C3-133A8B7E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5275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2B"/>
                </a:solidFill>
              </a:defRPr>
            </a:pPr>
            <a:r>
              <a:rPr sz="1425" b="1">
                <a:solidFill>
                  <a:srgbClr val="10212B"/>
                </a:solidFill>
              </a:rPr>
              <a:t>Safety gate logic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032030-44BB-4C90-9173-8F02E062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95650"/>
            <a:ext cx="2647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TRUST below tau. SLOW DOWN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near tau. ABSTAIN when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distance spikes or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confidence collapses.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ECE327-76B9-4A3F-88B2-5130DCB8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2266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EC61B7-6FF7-40C6-9BED-8B76FF78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EAA312-5D31-4B71-9898-1ACEDA80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293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0.9368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32676B-DEAF-4E21-A45C-0CDB9B9D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674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Classifier val acc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EC3D33-D165-4C2A-9F13-F63D367C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619750"/>
            <a:ext cx="2266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26559B-6231-4518-9AB9-160450B6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6197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0C3420-9316-4991-AB77-C0879551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8293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0.7412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30900B-A5F3-4ED1-9B7C-E887016A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2674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OOD AUROC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AD3C96-1D6F-4F4A-8547-435C3B14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19750"/>
            <a:ext cx="2266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9EA5B4A-9A63-4379-A7D5-81547588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197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90AA183-892F-4610-85DA-7FEA45E7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8293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0.1020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CC740C0-052E-45BC-98CF-64BEF89B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2674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Current kNN tau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7EF59D-9EAC-4FB7-B936-70E424E5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62600"/>
            <a:ext cx="3543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1100B7-2F49-4F31-BA16-448CA278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657850"/>
            <a:ext cx="3200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</a:defRPr>
            </a:pPr>
            <a:r>
              <a:rPr sz="1200" b="1">
                <a:solidFill>
                  <a:srgbClr val="10212B"/>
                </a:solidFill>
              </a:rPr>
              <a:t>One required follow-up: rerun both branches on one shared train/val/test protocol before any deployment claim.</a:t>
            </a:r>
          </a:p>
        </p:txBody>
      </p:sp>
    </p:spTree>
    <p:extLst>
      <p:ext uri="{BB962C8B-B14F-4D97-AF65-F5344CB8AC3E}">
        <p14:creationId xmlns:p14="http://schemas.microsoft.com/office/powerpoint/2010/main" val="13207049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834657-7F41-441D-AF38-F106680989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916A9-AF1B-4C63-890E-AFCF9BD6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7EFED-8AAC-486C-B334-D837E00E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143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B527F-896B-4213-BFE6-5A89FCC8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F6AFC-F941-4C73-BF11-C2B56DFF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A471D-98EF-4082-9354-F214A64E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EXPERIMENTS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03FF4-49EF-488D-80BE-22C51817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67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05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C77AE-5FC6-447A-84B4-ECEB2FF9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2B"/>
                </a:solidFill>
              </a:defRPr>
            </a:pPr>
            <a:r>
              <a:rPr sz="2850" b="1">
                <a:solidFill>
                  <a:srgbClr val="10212B"/>
                </a:solidFill>
              </a:rPr>
              <a:t>Experimental setup and evaluation protocol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46EA2-F8E9-41CA-AF3F-3A4FDC7B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BE4DF"/>
          </a:solidFill>
          <a:ln xmlns:a="http://schemas.openxmlformats.org/drawingml/2006/main" w="10478">
            <a:solidFill>
              <a:srgbClr val="C94E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A8D1E-0589-4BFB-9ED7-0B7AF160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10629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4E38"/>
                </a:solidFill>
              </a:defRPr>
            </a:pPr>
            <a:r>
              <a:rPr sz="1200" b="1">
                <a:solidFill>
                  <a:srgbClr val="C94E38"/>
                </a:solidFill>
              </a:rPr>
              <a:t>Reporting rule for this talk: compare methods within a track directly, and use cross-track comparisons only as directional guidance.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40D4CA-7947-48FA-88D5-8FC29319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37185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BB5EE-54AA-4DFD-9AF1-E5ADD65A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762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1FDEF-ADC0-4BBB-A527-DB0191E8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7810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CB775-F3F2-4032-A751-F116DE39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1937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TRACK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CFFCDB-628B-4ADD-ABD2-14FBD385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Curated binary split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7BC99-D92A-4C4E-9ADB-010726AA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ResNet baseline plus backbone sweep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B28A7-431C-43AF-A3FE-7FABC5A0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2952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Train: 16,000 frames (10,000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ID / 6,000 OOD).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Val: 3,988 frames (2,500 ID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/ 1,488 OOD).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OOD buckets: rain and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fog/snow.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Bucketed corpus in the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backbone notebook totals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70,587 images.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56B0AC-E7F3-402F-A62B-21804E5F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81600"/>
            <a:ext cx="2990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3F8AA8-FEDC-49A7-AF25-4A580949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Used by AI_RESNET.ipynb and VIT_BACKBONE.ipynb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476255-3EFB-4592-8C7D-8829F41A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400300"/>
            <a:ext cx="337185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C8EFF6-1005-4C09-8601-F890D80A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400300"/>
            <a:ext cx="762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32AE6-C6C3-455E-841C-470FAD0F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71750"/>
            <a:ext cx="7810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54136F-F3F5-4905-888E-A8BDED67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1937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TRACK 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ADECC5-CBB5-4911-91E3-552E015E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146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ID-only reference bank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90AB24-77F4-4324-A702-5C86E79E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575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</a:defRPr>
            </a:pPr>
            <a:r>
              <a:rPr sz="975" b="1">
                <a:solidFill>
                  <a:srgbClr val="D97706"/>
                </a:solidFill>
              </a:rPr>
              <a:t>CLIP + kNN and Mahalanobis detectors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AB5478-240B-4C63-A79A-AF16A93F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57600"/>
            <a:ext cx="2952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Train ID bank: 37,344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clear-weather frames.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Validation: 5,346 ID and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1,520 OOD frames.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OOD weather in val: rainy,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snowy, foggy.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Goal: measure distance from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a clean in-domain feature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bank.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E2E703-F622-44B2-83EE-012606E2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181600"/>
            <a:ext cx="2990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4E0685-9385-48E2-AB36-AEA319B6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863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Used by Vit+knn, vit_l_14, and Deep_Ensemble_Mahalanobis notebooks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4C6743-7AAF-49EB-9D99-F76A729E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337185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1C264B-7B1C-42DE-84BE-6EA7E9C8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762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E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7B99D5-59E1-423C-A575-ABC1C0F6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7810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94E38"/>
          </a:solidFill>
          <a:ln xmlns:a="http://schemas.openxmlformats.org/drawingml/2006/main" w="0">
            <a:solidFill>
              <a:srgbClr val="C94E3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DC0A2A-32F1-44B9-B186-5B73B3F9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1937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TRACK 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471571-A646-49C7-932E-C843442D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146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Full weather binary map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746807-0D6A-496E-9B08-91FA1212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4E38"/>
                </a:solidFill>
              </a:defRPr>
            </a:pPr>
            <a:r>
              <a:rPr sz="975" b="1">
                <a:solidFill>
                  <a:srgbClr val="C94E38"/>
                </a:solidFill>
              </a:rPr>
              <a:t>Exploratory ensemble and SVDD baselines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0B97DF-322E-4DBD-82D4-DF9DB4F8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2952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Train: 61,744 frames.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Validation: 8,843 frames.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ID mapping: clear, partly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cloudy, overcast.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OOD mapping: rainy, snowy,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foggy.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BB86A4-0585-49F5-A849-21B8D288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81600"/>
            <a:ext cx="2990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73BC60-D165-4681-83F0-6BEE586A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863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Used by Deep_Ensemble.ipynb and SVDD/Deep_Ensemble_(2).ipynb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6AF59B-8BF7-4E75-8798-9AC8A67B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596B43-0867-439F-A5F5-A9C5B919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62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</a:defRPr>
            </a:pPr>
            <a:r>
              <a:rPr sz="1200" b="1">
                <a:solidFill>
                  <a:srgbClr val="10212B"/>
                </a:solidFill>
              </a:rPr>
              <a:t>Metrics used throughout the talk: AUROC, AUPR, FPR@95TPR, calibration error, false-safe rate, and coverage under a false-safe budget.</a:t>
            </a:r>
          </a:p>
        </p:txBody>
      </p:sp>
    </p:spTree>
    <p:extLst>
      <p:ext uri="{BB962C8B-B14F-4D97-AF65-F5344CB8AC3E}">
        <p14:creationId xmlns:p14="http://schemas.microsoft.com/office/powerpoint/2010/main" val="9504916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834657-7F41-441D-AF38-F106680989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491A6-6A7A-4E7F-88E2-139848B2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C24B1-EE52-4B3A-ACF9-BB39B9E5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143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9F991-F5D9-464E-8CC5-3D9ED744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573F4-701F-4BC2-A526-004D2F71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2378E-6741-4C81-9904-6A27EF10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EXPERIMENTS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1C4B2-04C6-429A-8C2C-CCB13780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67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06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7CBD3-9CF9-45AF-AE9F-82A338B8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2B"/>
                </a:solidFill>
              </a:defRPr>
            </a:pPr>
            <a:r>
              <a:rPr sz="2850" b="1">
                <a:solidFill>
                  <a:srgbClr val="10212B"/>
                </a:solidFill>
              </a:rPr>
              <a:t>Experiment 1: ResNet baseline and calibration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3B13F-C557-4311-BF6E-78B08BA6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266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7CB16-779E-4C68-B0D2-8157EBFE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6E11E-B224-4D4C-B324-93EAE19F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0.8415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A6D06-632B-4A69-B620-2864BF56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Best val 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1B3AA-42C8-4638-83D7-E1207256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188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Curated binary split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2FB08-BBA2-4308-AAEB-DCD66491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14550"/>
            <a:ext cx="2266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AF9F9-FF08-48E1-9944-5F13A8E1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145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A241AE-E084-4860-BC4B-56036E07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241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0.5263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B0BE2-9939-43AE-ABED-2BCBB346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622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Best OOD AUROC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230B41-46EE-4C33-892C-B802B9FE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95600"/>
            <a:ext cx="188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Ensemble entropy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5D0FA8-2CEA-4640-895C-55DCD24D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266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FBABC3-5A80-4F56-BF98-045C3907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5039CB-1D7F-4DA7-815A-BD12BE44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0.0161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2D750A-D5EB-44A8-8568-04DFE129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ECE after scaling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34BA62-B371-4EFD-A2C7-BE110810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188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From 0.1037 before T-scaling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F456D5-7ED0-4E92-8502-63E54850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2266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D8FDE6-8835-4EEE-82DC-E6FDF5C1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E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8D0D03-F63F-494B-9029-42325477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433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97.6%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7922A4-5940-476A-9E15-FE37E0BE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814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Abstain rate at 5% FS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4DFC53-4F92-4A50-B824-2D3F250E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14800"/>
            <a:ext cx="188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Energy gate on curated split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40ECFD-C6EF-4A27-82C8-CEA8B06C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47053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4F0F8"/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E57EC8-488D-4CAB-BE3B-020C8EE1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4362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</a:defRPr>
            </a:pPr>
            <a:r>
              <a:rPr sz="1200" b="1">
                <a:solidFill>
                  <a:srgbClr val="10212B"/>
                </a:solidFill>
              </a:rPr>
              <a:t>Calibration improved a lot, but OOD separation stayed weak and the gate had to abstain on almost every validation frame to hit the false-safe target.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282B97-0616-4F76-9348-34E3C264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95500"/>
            <a:ext cx="5943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620979-B833-460C-BF63-BF02A5F7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47900"/>
            <a:ext cx="556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ResNet uncertainty method comparison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c5031a07a4c16"/>
          <a:stretch xmlns:a="http://schemas.openxmlformats.org/drawingml/2006/main"/>
        </p:blipFill>
        <p:spPr>
          <a:xfrm xmlns:a="http://schemas.openxmlformats.org/drawingml/2006/main">
            <a:off x="5772150" y="3236636"/>
            <a:ext cx="5676900" cy="20992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881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834657-7F41-441D-AF38-F106680989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B255C-9814-4F5C-AC7E-1B10F2B2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3F11B-3971-42CE-A0CC-5DCACFB3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143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10D6A-069C-44B3-942F-B8E7BCAF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72ED3-5057-4F82-BD38-FFC60AC1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00755-4DDE-430E-A512-E236D040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EXPERIMENTS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B99E4-A688-4EAC-AD8A-AFF49F2D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67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07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F6EBD-915A-4B09-98BD-6B2B67E7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2B"/>
                </a:solidFill>
              </a:defRPr>
            </a:pPr>
            <a:r>
              <a:rPr sz="2850" b="1">
                <a:solidFill>
                  <a:srgbClr val="10212B"/>
                </a:solidFill>
              </a:rPr>
              <a:t>Experiment 2: OOD detector comparison and ablation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6AA25-BCCD-46D7-840A-4C02BAC7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DD"/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32A2D-011B-4231-A2BC-916DEE91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62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8790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</a:defRPr>
            </a:pPr>
            <a:r>
              <a:rPr sz="1200" b="1">
                <a:solidFill>
                  <a:srgbClr val="10212B"/>
                </a:solidFill>
              </a:rPr>
              <a:t>Most rows below are on the clear-only ID bank split. Deep SVDD is included as an exploratory baseline from the full-weather split and should be interpreted separately.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4169B-0B00-4255-B71B-3E62848A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619125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0F104-5F0D-4C75-83FB-831E995A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AC523-6DE1-4C21-82D6-E9D5AFCA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Detector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B7DB8-9870-4BC6-A879-A6D14C50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1935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814E3-17D5-42D8-805E-EAE577AA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146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Split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47DB8-F91F-4F93-BF07-A6F87604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19350"/>
            <a:ext cx="85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C3238-CE78-48B6-8B15-483CE4DB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146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AUROC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99DB17-2BAA-46CB-A1B2-0FE31818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19350"/>
            <a:ext cx="85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BCC42C-D0A9-4477-A4BE-734925B8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146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AUPR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B4B36-8B67-4F01-B107-B56A3583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1935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04182C-A085-45B8-82BC-D57E1355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146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Cov@5%FS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4CF908-8C26-4248-9242-F507E8F6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84E669-73A2-4825-892D-E02DB481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4797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Deep SVDD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D82C5-213A-4D6A-B09F-D7CF603E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AC12B1-D1D0-4A7E-A300-57317019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4797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Full weather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451ED3-20C7-4394-B8E4-B966C14D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622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03C496-6877-4C4A-AFC8-FAE333A4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47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0.5841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FEC5DD-7E3B-4B0E-B843-2F5A6C1B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622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4C9DDC-26EE-4B75-918D-AF32C672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47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0.2454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484858-F2F0-410E-86C4-B432099E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622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34CA32-049E-491A-882C-BCC27201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479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0.0625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82405D-50C3-480E-A66A-28F68F99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130E34-BE7B-4012-8C5F-8D4191E5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6707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Mahalanobis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1891A8-7DFB-4CA4-A9A3-86EB0938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813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5BF163-8986-45F8-8F86-1585B864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6707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Clear-only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52F56E-9CEE-4BF4-9E8A-1D9DBDE1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813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87E720-15D8-4F20-994C-90E15FAC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670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0.6525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DA1EB0-7E06-4597-9FBA-0AC99F24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813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218D76-D6EB-4F7D-8C77-3ED999E6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670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0.3391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D85A82-5939-4EEC-9BA9-2896F09C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813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F57F7F-DC3F-4E09-954C-03B0A462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670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0.1381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A8DFAF-1E47-45C7-8E93-6C8315D1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D68DEE-59C1-4D37-91CC-E673AE0D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8617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CLIP ViT-B/32 + kNN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03858C-CCE5-46AF-B659-3A497A9C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004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3FFBFA-47EC-46A8-B15C-B9EF7F5A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8617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Clear-only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8EC936-9CBC-4AA8-BEB2-2A41E992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004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DE8BEB-EC84-4BB1-A32F-C2395308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86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0.7412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4A6867-D42A-4C37-B01C-8B08A77F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004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B9FBE1-AF97-49ED-A68C-462005DC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86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0.4366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D189B6-D052-4C21-98E7-59BF2701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004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20B183-5E6F-432D-B275-DAE2777B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861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0.1904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44626F-008E-4E80-A6C2-6F48EE9C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A80F6CC-F61C-4BB1-B92B-EFF2DA88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CLIP ViT-L/14 + k=5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D44E99-677C-447E-9E34-E5F0F27F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195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EACCA1-95A7-4690-A82A-F3FA4D7D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0527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Clear-only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6C9EA4-913D-4035-9941-7654DE02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195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5752A19-D596-4741-80DB-B168D39B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052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0.7326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35F2FE-51DB-4017-AD98-8A5AF0A8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195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55EE101-F44B-4F9C-8681-F5F7D080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052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0.4175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798A9E-38AF-4A2C-B1BA-D9D313A9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195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874B632-D0FC-439C-9C93-EF63B23E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052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0.1936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6E1354-D96C-4DC6-8B2E-954A5999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19350"/>
            <a:ext cx="323850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E6B0FD3-CF17-48AF-813F-0332B3BB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1935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616E9B-B6A6-4454-8015-799052A4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146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E155272-7BA2-42CB-8346-04EAC55E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1935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5086B44-41CC-4BCB-83BB-CE606359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146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AUROC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4F4D9DB-9CA5-40D3-8C4F-A23D8E12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193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4125E9B-0954-4826-9C4B-1F3C4826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46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Cov@5%FS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16691FD-E7A5-452E-8806-78C29F02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ECE4D78-6780-4333-BB90-D4781D3C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47975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54C9A35-41EC-4FAE-9582-48C746D3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5170510-3A10-4E04-B44B-3CEC8CDB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4797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0.7283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4D38D7F-399F-4CE7-A80D-F6820E09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622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2C95B16-94FF-4DCA-8B2A-C3E83B9D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4797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0.1739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6FE7BF7-E20D-4A5C-A63A-1D626B80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813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C192717-1F7A-4E90-B50C-2015E8EE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67075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6E48CB1-0300-4C74-8AF1-1CD54027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813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74F3877-71C4-499C-A496-FFADB90A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6707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0.7326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DB732FB-38B5-44A7-BB54-E63090D8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813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85FEBD6-0FA5-4350-B06E-5CD91A45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6707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0.1936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37ABBF8-E3EF-4FE8-A6E7-34874822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004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F1B6605-15DC-4B5C-94F9-8096813E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86175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10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335F745-9CA8-4B57-ABD7-25B7A6F8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04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78BEA5D-C35B-4500-8D1D-213E2756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0.7325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2EB76B0-16BE-4D1D-A6D5-F444E959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004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705491D-0286-4471-9839-3AB46310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8617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0.1936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45A9F73-A023-44E9-9C7C-CA07EC82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195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97D85E7-13C3-4ABC-8190-04D6EFFE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05275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20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059E265-295D-4B51-9627-681E54C4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195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A2D221F-D099-460E-BEA7-23F0C15C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0527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0.7317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988343E-4982-42A6-92C7-F8320ED7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195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7201640-74C0-45F9-84B4-0B9352BE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0527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0.1936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91297CC-D652-40C0-B646-4CA01DEC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386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3E3217F-9703-4D16-A7E0-B4DCA756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24375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50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5154DD9-F390-4762-B475-CE53F28D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386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CB592C1-0B7C-4321-86AA-2CD4956D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2437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0.7300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BCACC72-4DFB-44A6-8BCE-C4F1AAAF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386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5715">
            <a:solidFill>
              <a:srgbClr val="10212B">
                <a:alpha val="7843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9E252AE-BBF6-418F-97D2-D3774202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2437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12C"/>
                </a:solidFill>
              </a:defRPr>
            </a:pPr>
            <a:r>
              <a:rPr sz="975" b="0">
                <a:solidFill>
                  <a:srgbClr val="13212C"/>
                </a:solidFill>
              </a:rPr>
              <a:t>0.1904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D54E5D2-92ED-42BC-87C4-76270C23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95850"/>
            <a:ext cx="38671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7B1EA1D-A616-42A1-BE3E-96EA06EF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958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104A5B6-14FD-4E91-835D-47B4AA7B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05400"/>
            <a:ext cx="3448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Interpretation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8D7EFED-590C-4C13-A55F-F930B763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48300"/>
            <a:ext cx="3448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81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CLIP-based kNN is the strongest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detector family in the notebook set.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The ViT-L/14 ablation shows only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marginal gains beyond k=5.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DFD6C62-5B33-4832-A768-1F51390B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DF48528-8B1E-454B-8C1F-8938DD5C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24600"/>
            <a:ext cx="10629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819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</a:defRPr>
            </a:pPr>
            <a:r>
              <a:rPr sz="1200" b="1">
                <a:solidFill>
                  <a:srgbClr val="10212B"/>
                </a:solidFill>
              </a:rPr>
              <a:t>Experiment takeaway: CLIP + kNN is the most convincing OOD gate in the current notebooks, and the k-sweep suggests k=5 is a reasonable operating point.</a:t>
            </a:r>
          </a:p>
        </p:txBody>
      </p:sp>
    </p:spTree>
    <p:extLst>
      <p:ext uri="{BB962C8B-B14F-4D97-AF65-F5344CB8AC3E}">
        <p14:creationId xmlns:p14="http://schemas.microsoft.com/office/powerpoint/2010/main" val="8578908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834657-7F41-441D-AF38-F106680989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9E45C-5468-4EE4-9621-766CA6FA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E7646-DC13-4A92-B4E1-5758CDF6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143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CC8D9-B708-42F2-BEEF-2E84E1DC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C0C88-0156-4323-9D52-E82D3006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76BE9-E439-4D28-A5E6-541D718C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6091"/>
                </a:solidFill>
              </a:defRPr>
            </a:pPr>
            <a:r>
              <a:rPr sz="900" b="1">
                <a:solidFill>
                  <a:srgbClr val="1E6091"/>
                </a:solidFill>
              </a:rPr>
              <a:t>EXPERIMENTS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A398B-683C-43CD-B993-0E8643C9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67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E6091"/>
                </a:solidFill>
              </a:defRPr>
            </a:pPr>
            <a:r>
              <a:rPr sz="900" b="1">
                <a:solidFill>
                  <a:srgbClr val="1E6091"/>
                </a:solidFill>
              </a:rPr>
              <a:t>08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DD7F2-DAC6-432D-B99B-6A1C9A7A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2B"/>
                </a:solidFill>
              </a:defRPr>
            </a:pPr>
            <a:r>
              <a:rPr sz="2850" b="1">
                <a:solidFill>
                  <a:srgbClr val="10212B"/>
                </a:solidFill>
              </a:rPr>
              <a:t>Experiment 3: backbone comparison and final model selection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F2F3B-8504-4A8F-A318-B6BD0EF9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4F0F8"/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C13CB-16FC-47C5-8C34-AD3D7E5F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1062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</a:defRPr>
            </a:pPr>
            <a:r>
              <a:rPr sz="1200" b="1">
                <a:solidFill>
                  <a:srgbClr val="10212B"/>
                </a:solidFill>
              </a:rPr>
              <a:t>Bucketed corpus in the backbone notebook: 70,587 total images across in_odd, rain, and fog_snow buckets.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CA6A9-A567-4CD1-9F2A-86D0C1BA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4876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C34EB-0316-4662-8DB0-CD34EC46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487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C180E-236C-4C15-A55A-4C5D836A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449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0.9368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EF2FB-B6E4-4219-A0DE-E5B6E3B0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449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ConvNeXt-Tiny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EF5F4-E757-4CDA-B7F0-9E90A0BD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449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Best val accuracy in backbone sweep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A6316-C267-49C8-A031-551088CE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4876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4F70E-644F-40A4-8B20-91BD636F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487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4D3C87-D19E-49CB-96E5-B3FE90C0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24150"/>
            <a:ext cx="449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0.9359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AF6E5F-78FB-4038-A62C-78AE7569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62300"/>
            <a:ext cx="449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CLIP ViT-B/16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4C9D94-8B49-48B7-8043-D9151560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90950"/>
            <a:ext cx="449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Very close second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E4AF3-159D-4D5E-A611-69F99D51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876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60440B-2A45-4BFC-B6A0-EAD32BF8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87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432A6D-8629-41A3-BEE8-2A7AA710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449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0.9253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21E807-C929-49D2-A746-82D63804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72050"/>
            <a:ext cx="449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ResNet-50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577088-FE04-4C29-B9D1-19615BF8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00700"/>
            <a:ext cx="449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Strong baseline, but not the top classifier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CB2E59-8A84-4EA7-AF72-E0F9A518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24350"/>
            <a:ext cx="4876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D7A4C0-DD25-4DED-95DC-FBC89689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24350"/>
            <a:ext cx="487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E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4DF023-473F-403A-92BF-659B6D0C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33900"/>
            <a:ext cx="449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0.8975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9612F2-1A0C-48C4-8409-D23D0912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72050"/>
            <a:ext cx="449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EfficientNet-B3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150313-8645-40EA-85AA-9115F7A8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600700"/>
            <a:ext cx="449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Lowest validation accuracy in this sweep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751DD7-72AC-42A2-A7EB-5FA196B1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F8E322-85C3-4C6E-B89B-D9B303CB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1062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9722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</a:defRPr>
            </a:pPr>
            <a:r>
              <a:rPr sz="1200" b="1">
                <a:solidFill>
                  <a:srgbClr val="10212B"/>
                </a:solidFill>
              </a:rPr>
              <a:t>Takeaway: ConvNeXt-Tiny is the strongest classifier, but this notebook did not report the same reject-option metrics as the CLIP + kNN notebooks.</a:t>
            </a:r>
          </a:p>
        </p:txBody>
      </p:sp>
    </p:spTree>
    <p:extLst>
      <p:ext uri="{BB962C8B-B14F-4D97-AF65-F5344CB8AC3E}">
        <p14:creationId xmlns:p14="http://schemas.microsoft.com/office/powerpoint/2010/main" val="8298591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834657-7F41-441D-AF38-F106680989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D320D-DBE8-489B-B3A8-D7465A7E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A16CB-87B0-45F6-B8F6-044F96F4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143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0607E-1B4F-49D7-818D-A7A99F48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6A1A0-764C-4EC7-903E-313BAF01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E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7C279-BD67-4AA5-8F22-B3148F56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4E38"/>
                </a:solidFill>
              </a:defRPr>
            </a:pPr>
            <a:r>
              <a:rPr sz="900" b="1">
                <a:solidFill>
                  <a:srgbClr val="C94E38"/>
                </a:solidFill>
              </a:rPr>
              <a:t>CONCLUSION &amp; DISCUSSION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2FF25-962E-4D52-BAEA-EA301164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67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4E38"/>
                </a:solidFill>
              </a:defRPr>
            </a:pPr>
            <a:r>
              <a:rPr sz="900" b="1">
                <a:solidFill>
                  <a:srgbClr val="C94E38"/>
                </a:solidFill>
              </a:rPr>
              <a:t>09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6E1A6-0C43-4C13-B9DA-59CDE518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2B"/>
                </a:solidFill>
              </a:defRPr>
            </a:pPr>
            <a:r>
              <a:rPr sz="2850" b="1">
                <a:solidFill>
                  <a:srgbClr val="10212B"/>
                </a:solidFill>
              </a:rPr>
              <a:t>Conclusion and discussion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2A83F-EE13-4568-AF74-5047151F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006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39A81-5623-44AA-AAA7-AAB4A3EF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76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60137-A133-4294-94D6-9115651C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2382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56920-C280-416E-8DB5-F571B93B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955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SUPPORTED CLAIMS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10EF5-65D2-4384-8550-AA5B0DA8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4781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What the experiments already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87AEC8-1743-45E7-92C3-B8D1FC0C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47815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ConvNeXt-Tiny was the strongest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supervised backbone at 0.9368 validation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accuracy.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CLIP ViT-B/32 + kNN was the strongest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explicit OOD gate at 0.7412 AUROC.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Temperature scaling improved ResNet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calibration from 0.1037 ECE to 0.0161.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Confidence-only OOD scores were too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conservative to make a practical gate.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4459D-D0C5-426D-98D0-B1AE4A2B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52006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FC591-9D7E-4D92-A5F0-30889209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76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44803-55D8-4046-8E35-6F3CE893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990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02472A-DBF6-469B-8E82-AF0F4349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95525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E1573-616D-4DBF-A54A-9744F24E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90800"/>
            <a:ext cx="4781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What should happen next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A706CE-C33B-4FA4-B79B-9011A786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33700"/>
            <a:ext cx="47815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Rebuild one shared benchmark split and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rerun every method on it.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Add night, construction, and corruption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shifts for a broader OOD story.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Report latency and memory so the gate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can be judged as a real-time component.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Integrate the thresholded gate into the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simulator and measure intervention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quality.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216A55-E985-4D02-B0D5-3CCC9965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E4DF"/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A860F1-80E9-41C4-A51E-4DE7E28E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10629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7256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</a:defRPr>
            </a:pPr>
            <a:r>
              <a:rPr sz="1200" b="1">
                <a:solidFill>
                  <a:srgbClr val="10212B"/>
                </a:solidFill>
              </a:rPr>
              <a:t>Final recommendation for the deck: present ConvNeXt-Tiny as the best classifier, CLIP ViT-B/32 + kNN as the best reject-option OOD detector, and a unified evaluation protocol as the immediate next milestone.</a:t>
            </a:r>
          </a:p>
        </p:txBody>
      </p:sp>
    </p:spTree>
    <p:extLst>
      <p:ext uri="{BB962C8B-B14F-4D97-AF65-F5344CB8AC3E}">
        <p14:creationId xmlns:p14="http://schemas.microsoft.com/office/powerpoint/2010/main" val="20472066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2026-04-20T17:55:15.0290000Z</dcterms:created>
  <dcterms:modified xsi:type="dcterms:W3CDTF">2026-04-20T17:55:15.0290000Z</dcterms:modified>
</coreProperties>
</file>